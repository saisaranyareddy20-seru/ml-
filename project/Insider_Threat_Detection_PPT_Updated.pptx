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9" r:id="rId10"/>
    <p:sldId id="270" r:id="rId11"/>
    <p:sldId id="266" r:id="rId12"/>
    <p:sldId id="260"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2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Machine Learning (25SC2107E)</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Insider Threat Detection Using Elastic Net Regularized Logistic Regression</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2520030436 – G. Eesha Yuktha</a:t>
            </a:r>
          </a:p>
          <a:p>
            <a:r>
              <a:rPr lang="en-US" dirty="0">
                <a:solidFill>
                  <a:srgbClr val="0070C0"/>
                </a:solidFill>
              </a:rPr>
              <a:t>2520030258 – B. Sai Saranya</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152966" cy="4896725"/>
          </a:xfrm>
          <a:prstGeom prst="rect">
            <a:avLst/>
          </a:prstGeom>
          <a:noFill/>
        </p:spPr>
        <p:txBody>
          <a:bodyPr wrap="none" rtlCol="0">
            <a:spAutoFit/>
          </a:bodyPr>
          <a:lstStyle/>
          <a:p>
            <a:pPr marL="457200" indent="-457200" algn="l" rtl="0" eaLnBrk="1" fontAlgn="t" latinLnBrk="0" hangingPunct="1">
              <a:lnSpc>
                <a:spcPct val="115000"/>
              </a:lnSpc>
              <a:spcBef>
                <a:spcPts val="0"/>
              </a:spcBef>
              <a:spcAft>
                <a:spcPts val="0"/>
              </a:spcAft>
              <a:buFont typeface="Arial" panose="020B0604020202020204" pitchFamily="34" charset="0"/>
              <a:buChar char="•"/>
            </a:pPr>
            <a:r>
              <a:rPr sz="2800" b="0" dirty="0">
                <a:solidFill>
                  <a:srgbClr val="000000"/>
                </a:solidFill>
                <a:latin typeface="Calibri"/>
              </a:rPr>
              <a:t>Abstract</a:t>
            </a:r>
          </a:p>
          <a:p>
            <a:pPr marL="457200" indent="-457200">
              <a:buFont typeface="Arial" panose="020B0604020202020204" pitchFamily="34" charset="0"/>
              <a:buChar char="•"/>
            </a:pPr>
            <a:r>
              <a:rPr sz="2800" b="0" dirty="0">
                <a:solidFill>
                  <a:srgbClr val="000000"/>
                </a:solidFill>
                <a:latin typeface="Calibri"/>
              </a:rPr>
              <a:t>Introduction</a:t>
            </a:r>
          </a:p>
          <a:p>
            <a:pPr marL="457200" indent="-457200">
              <a:buFont typeface="Arial" panose="020B0604020202020204" pitchFamily="34" charset="0"/>
              <a:buChar char="•"/>
            </a:pPr>
            <a:r>
              <a:rPr sz="2800" b="0" dirty="0">
                <a:solidFill>
                  <a:srgbClr val="000000"/>
                </a:solidFill>
                <a:latin typeface="Calibri"/>
              </a:rPr>
              <a:t>Literature Survey</a:t>
            </a:r>
          </a:p>
          <a:p>
            <a:pPr marL="457200" indent="-457200">
              <a:buFont typeface="Arial" panose="020B0604020202020204" pitchFamily="34" charset="0"/>
              <a:buChar char="•"/>
            </a:pPr>
            <a:r>
              <a:rPr sz="2800" b="0" dirty="0">
                <a:solidFill>
                  <a:srgbClr val="000000"/>
                </a:solidFill>
                <a:latin typeface="Calibri"/>
              </a:rPr>
              <a:t>Problem Statement and Objectives</a:t>
            </a:r>
          </a:p>
          <a:p>
            <a:pPr marL="457200" indent="-457200">
              <a:buFont typeface="Arial" panose="020B0604020202020204" pitchFamily="34" charset="0"/>
              <a:buChar char="•"/>
            </a:pPr>
            <a:r>
              <a:rPr sz="2800" b="0" dirty="0">
                <a:solidFill>
                  <a:srgbClr val="000000"/>
                </a:solidFill>
                <a:latin typeface="Calibri"/>
              </a:rPr>
              <a:t>Workflow / Flow Chart</a:t>
            </a:r>
          </a:p>
          <a:p>
            <a:pPr marL="457200" indent="-457200">
              <a:buFont typeface="Arial" panose="020B0604020202020204" pitchFamily="34" charset="0"/>
              <a:buChar char="•"/>
            </a:pPr>
            <a:r>
              <a:rPr sz="2800" b="0" dirty="0">
                <a:solidFill>
                  <a:srgbClr val="000000"/>
                </a:solidFill>
                <a:latin typeface="Calibri"/>
              </a:rPr>
              <a:t>Exploratory Data Analysis</a:t>
            </a:r>
          </a:p>
          <a:p>
            <a:pPr marL="457200" indent="-457200">
              <a:buFont typeface="Arial" panose="020B0604020202020204" pitchFamily="34" charset="0"/>
              <a:buChar char="•"/>
            </a:pPr>
            <a:r>
              <a:rPr sz="2800" b="0" dirty="0">
                <a:solidFill>
                  <a:srgbClr val="000000"/>
                </a:solidFill>
                <a:latin typeface="Calibri"/>
              </a:rPr>
              <a:t>Model Evaluation Results</a:t>
            </a:r>
          </a:p>
          <a:p>
            <a:pPr marL="457200" indent="-457200">
              <a:buFont typeface="Arial" panose="020B0604020202020204" pitchFamily="34" charset="0"/>
              <a:buChar char="•"/>
            </a:pPr>
            <a:r>
              <a:rPr sz="2800" b="0" dirty="0">
                <a:solidFill>
                  <a:srgbClr val="000000"/>
                </a:solidFill>
                <a:latin typeface="Calibri"/>
              </a:rPr>
              <a:t>System Implementation &amp; Monitoring</a:t>
            </a:r>
          </a:p>
          <a:p>
            <a:pPr marL="457200" indent="-457200">
              <a:buFont typeface="Arial" panose="020B0604020202020204" pitchFamily="34" charset="0"/>
              <a:buChar char="•"/>
            </a:pPr>
            <a:r>
              <a:rPr sz="2800" b="0" dirty="0">
                <a:solidFill>
                  <a:srgbClr val="000000"/>
                </a:solidFill>
                <a:latin typeface="Calibri"/>
              </a:rPr>
              <a:t>Hardware and Software Requirements</a:t>
            </a:r>
          </a:p>
          <a:p>
            <a:pPr marL="457200" indent="-457200">
              <a:buFont typeface="Arial" panose="020B0604020202020204" pitchFamily="34" charset="0"/>
              <a:buChar char="•"/>
            </a:pPr>
            <a:r>
              <a:rPr sz="2800" b="0" dirty="0">
                <a:solidFill>
                  <a:srgbClr val="000000"/>
                </a:solidFill>
                <a:latin typeface="Calibri"/>
              </a:rPr>
              <a:t>Conclusion</a:t>
            </a:r>
          </a:p>
          <a:p>
            <a:pPr marL="457200" indent="-457200">
              <a:buFont typeface="Arial" panose="020B0604020202020204" pitchFamily="34" charset="0"/>
              <a:buChar char="•"/>
            </a:pPr>
            <a:r>
              <a:rPr sz="2800" b="0" dirty="0">
                <a:solidFill>
                  <a:srgbClr val="000000"/>
                </a:solidFill>
                <a:latin typeface="Calibri"/>
              </a:rPr>
              <a:t>Future Scope</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AbstractBullets"/>
          <p:cNvSpPr txBox="1"/>
          <p:nvPr/>
        </p:nvSpPr>
        <p:spPr>
          <a:xfrm>
            <a:off x="685800" y="990600"/>
            <a:ext cx="7100000" cy="5300000"/>
          </a:xfrm>
          <a:prstGeom prst="rect">
            <a:avLst/>
          </a:prstGeom>
          <a:noFill/>
        </p:spPr>
        <p:txBody>
          <a:bodyPr wrap="square" anchor="t">
            <a:normAutofit/>
          </a:bodyPr>
          <a:lstStyle/>
          <a:p>
            <a:pPr marL="285750" indent="-285750">
              <a:spcAft>
                <a:spcPts val="1000"/>
              </a:spcAft>
              <a:buFont typeface="Arial"/>
              <a:buChar char="•"/>
            </a:pPr>
            <a:r>
              <a:rPr lang="en-US" sz="1600" b="1" dirty="0">
                <a:solidFill>
                  <a:srgbClr val="C00000"/>
                </a:solidFill>
              </a:rPr>
              <a:t>Problem: </a:t>
            </a:r>
            <a:r>
              <a:rPr lang="en-US" sz="1600" dirty="0">
                <a:solidFill>
                  <a:srgbClr val="262626"/>
                </a:solidFill>
              </a:rPr>
              <a:t>Insider threats occur when authorized users misuse their legitimate access to steal sensitive information or damage organizational systems.</a:t>
            </a:r>
          </a:p>
          <a:p>
            <a:pPr marL="285750" indent="-285750">
              <a:spcAft>
                <a:spcPts val="1000"/>
              </a:spcAft>
              <a:buFont typeface="Arial"/>
              <a:buChar char="•"/>
            </a:pPr>
            <a:r>
              <a:rPr lang="en-US" sz="1600" b="1" dirty="0">
                <a:solidFill>
                  <a:srgbClr val="C00000"/>
                </a:solidFill>
              </a:rPr>
              <a:t>Approach: </a:t>
            </a:r>
            <a:r>
              <a:rPr lang="en-US" sz="1600" dirty="0">
                <a:solidFill>
                  <a:srgbClr val="262626"/>
                </a:solidFill>
              </a:rPr>
              <a:t>An Insider Threat Detection System is proposed using Elastic Net Regularized Logistic Regression to classify user activity as normal or potentially malicious.</a:t>
            </a:r>
          </a:p>
          <a:p>
            <a:pPr marL="285750" indent="-285750">
              <a:spcAft>
                <a:spcPts val="1000"/>
              </a:spcAft>
              <a:buFont typeface="Arial"/>
              <a:buChar char="•"/>
            </a:pPr>
            <a:r>
              <a:rPr lang="en-US" sz="1600" b="1" dirty="0">
                <a:solidFill>
                  <a:srgbClr val="C00000"/>
                </a:solidFill>
              </a:rPr>
              <a:t>Features used: </a:t>
            </a:r>
            <a:r>
              <a:rPr lang="en-US" sz="1600" dirty="0">
                <a:solidFill>
                  <a:srgbClr val="262626"/>
                </a:solidFill>
              </a:rPr>
              <a:t>Behavioral and security-related signals are analyzed — login patterns, file access, access frequency, and unusual user behavior.</a:t>
            </a:r>
          </a:p>
          <a:p>
            <a:pPr marL="285750" indent="-285750">
              <a:spcAft>
                <a:spcPts val="1000"/>
              </a:spcAft>
              <a:buFont typeface="Arial"/>
              <a:buChar char="•"/>
            </a:pPr>
            <a:r>
              <a:rPr lang="en-US" sz="1600" b="1" dirty="0">
                <a:solidFill>
                  <a:srgbClr val="C00000"/>
                </a:solidFill>
              </a:rPr>
              <a:t>Why Elastic Net: </a:t>
            </a:r>
            <a:r>
              <a:rPr lang="en-US" sz="1600" dirty="0">
                <a:solidFill>
                  <a:srgbClr val="262626"/>
                </a:solidFill>
              </a:rPr>
              <a:t>Elastic Net combines L1 and L2 penalties, enabling automatic feature selection while reducing overfitting on correlated behavioral data.</a:t>
            </a:r>
          </a:p>
          <a:p>
            <a:pPr marL="285750" indent="-285750">
              <a:spcAft>
                <a:spcPts val="1000"/>
              </a:spcAft>
              <a:buFont typeface="Arial"/>
              <a:buChar char="•"/>
            </a:pPr>
            <a:r>
              <a:rPr lang="en-US" sz="1600" b="1" dirty="0">
                <a:solidFill>
                  <a:srgbClr val="C00000"/>
                </a:solidFill>
              </a:rPr>
              <a:t>Evaluation: </a:t>
            </a:r>
            <a:r>
              <a:rPr lang="en-US" sz="1600" dirty="0">
                <a:solidFill>
                  <a:srgbClr val="262626"/>
                </a:solidFill>
              </a:rPr>
              <a:t>The model is trained and evaluated using accuracy, precision, recall, F1-score, and ROC-AUC.</a:t>
            </a:r>
          </a:p>
          <a:p>
            <a:pPr marL="285750" indent="-285750">
              <a:spcAft>
                <a:spcPts val="1000"/>
              </a:spcAft>
              <a:buFont typeface="Arial"/>
              <a:buChar char="•"/>
            </a:pPr>
            <a:r>
              <a:rPr lang="en-US" sz="1600" b="1" dirty="0">
                <a:solidFill>
                  <a:srgbClr val="C00000"/>
                </a:solidFill>
              </a:rPr>
              <a:t>Impact: </a:t>
            </a:r>
            <a:r>
              <a:rPr lang="en-US" sz="1600" dirty="0">
                <a:solidFill>
                  <a:srgbClr val="262626"/>
                </a:solidFill>
              </a:rPr>
              <a:t>Demonstrates how ML can help cybersecurity teams flag suspicious behavior early and reduce the risk of insider attacks.</a:t>
            </a:r>
          </a:p>
        </p:txBody>
      </p:sp>
      <p:sp>
        <p:nvSpPr>
          <p:cNvPr id="20" name="SnapshotCard"/>
          <p:cNvSpPr/>
          <p:nvPr/>
        </p:nvSpPr>
        <p:spPr>
          <a:xfrm>
            <a:off x="8100000" y="990600"/>
            <a:ext cx="3400000" cy="4600000"/>
          </a:xfrm>
          <a:prstGeom prst="roundRect">
            <a:avLst>
              <a:gd name="adj" fmla="val 6000"/>
            </a:avLst>
          </a:prstGeom>
          <a:solidFill>
            <a:srgbClr val="FBECEC"/>
          </a:solidFill>
        </p:spPr>
        <p:txBody>
          <a:bodyPr/>
          <a:lstStyle/>
          <a:p>
            <a:endParaRPr lang="en-US"/>
          </a:p>
        </p:txBody>
      </p:sp>
      <p:sp>
        <p:nvSpPr>
          <p:cNvPr id="21" name="SnapshotTitle"/>
          <p:cNvSpPr txBox="1"/>
          <p:nvPr/>
        </p:nvSpPr>
        <p:spPr>
          <a:xfrm>
            <a:off x="8100000" y="1090600"/>
            <a:ext cx="3400000" cy="400000"/>
          </a:xfrm>
          <a:prstGeom prst="rect">
            <a:avLst/>
          </a:prstGeom>
          <a:noFill/>
        </p:spPr>
        <p:txBody>
          <a:bodyPr wrap="square" anchor="t"/>
          <a:lstStyle/>
          <a:p>
            <a:pPr algn="ctr">
              <a:spcAft>
                <a:spcPts val="0"/>
              </a:spcAft>
            </a:pPr>
            <a:r>
              <a:rPr lang="en-US" sz="1500" b="1" dirty="0">
                <a:solidFill>
                  <a:srgbClr val="C00000"/>
                </a:solidFill>
              </a:rPr>
              <a:t>Project Snapshot</a:t>
            </a:r>
          </a:p>
        </p:txBody>
      </p:sp>
      <p:sp>
        <p:nvSpPr>
          <p:cNvPr id="22" name="SnapshotBody"/>
          <p:cNvSpPr txBox="1"/>
          <p:nvPr/>
        </p:nvSpPr>
        <p:spPr>
          <a:xfrm>
            <a:off x="8300000" y="1650000"/>
            <a:ext cx="3000000" cy="3800000"/>
          </a:xfrm>
          <a:prstGeom prst="rect">
            <a:avLst/>
          </a:prstGeom>
          <a:noFill/>
        </p:spPr>
        <p:txBody>
          <a:bodyPr wrap="square" anchor="t"/>
          <a:lstStyle/>
          <a:p>
            <a:pPr marL="228600" indent="-228600">
              <a:spcAft>
                <a:spcPts val="600"/>
              </a:spcAft>
              <a:buFont typeface="Arial"/>
              <a:buChar char="•"/>
            </a:pPr>
            <a:r>
              <a:rPr lang="en-US" sz="1300" dirty="0">
                <a:solidFill>
                  <a:srgbClr val="262626"/>
                </a:solidFill>
              </a:rPr>
              <a:t>1500 event records, 23 features</a:t>
            </a:r>
          </a:p>
          <a:p>
            <a:pPr marL="228600" indent="-228600">
              <a:spcAft>
                <a:spcPts val="600"/>
              </a:spcAft>
              <a:buFont typeface="Arial"/>
              <a:buChar char="•"/>
            </a:pPr>
            <a:r>
              <a:rPr lang="en-US" sz="1300" dirty="0">
                <a:solidFill>
                  <a:srgbClr val="262626"/>
                </a:solidFill>
              </a:rPr>
              <a:t>250 unique users, 7 departments</a:t>
            </a:r>
          </a:p>
          <a:p>
            <a:pPr marL="228600" indent="-228600">
              <a:spcAft>
                <a:spcPts val="600"/>
              </a:spcAft>
              <a:buFont typeface="Arial"/>
              <a:buChar char="•"/>
            </a:pPr>
            <a:r>
              <a:rPr lang="en-US" sz="1300" dirty="0">
                <a:solidFill>
                  <a:srgbClr val="262626"/>
                </a:solidFill>
              </a:rPr>
              <a:t>Model: Elastic Net Logistic Regression</a:t>
            </a:r>
          </a:p>
          <a:p>
            <a:pPr marL="228600" indent="-228600">
              <a:spcAft>
                <a:spcPts val="600"/>
              </a:spcAft>
              <a:buFont typeface="Arial"/>
              <a:buChar char="•"/>
            </a:pPr>
            <a:r>
              <a:rPr lang="en-US" sz="1300" dirty="0">
                <a:solidFill>
                  <a:srgbClr val="262626"/>
                </a:solidFill>
              </a:rPr>
              <a:t>Metrics: Accuracy, Precision, Recall, F1, ROC-AUC</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IntroBullets"/>
          <p:cNvSpPr txBox="1"/>
          <p:nvPr/>
        </p:nvSpPr>
        <p:spPr>
          <a:xfrm>
            <a:off x="685800" y="990600"/>
            <a:ext cx="7100000" cy="5300000"/>
          </a:xfrm>
          <a:prstGeom prst="rect">
            <a:avLst/>
          </a:prstGeom>
          <a:noFill/>
        </p:spPr>
        <p:txBody>
          <a:bodyPr wrap="square" anchor="t">
            <a:normAutofit/>
          </a:bodyPr>
          <a:lstStyle/>
          <a:p>
            <a:pPr marL="285750" indent="-285750">
              <a:spcAft>
                <a:spcPts val="1000"/>
              </a:spcAft>
              <a:buFont typeface="Arial"/>
              <a:buChar char="•"/>
            </a:pPr>
            <a:r>
              <a:rPr lang="en-US" sz="1600" dirty="0">
                <a:solidFill>
                  <a:srgbClr val="262626"/>
                </a:solidFill>
              </a:rPr>
              <a:t>Insiders are employees, contractors, or partners who already hold legitimate access — they don't need to break in, they can simply misuse the access they have.</a:t>
            </a:r>
          </a:p>
          <a:p>
            <a:pPr marL="285750" indent="-285750">
              <a:spcAft>
                <a:spcPts val="1000"/>
              </a:spcAft>
              <a:buFont typeface="Arial"/>
              <a:buChar char="•"/>
            </a:pPr>
            <a:r>
              <a:rPr lang="en-US" sz="1600" dirty="0">
                <a:solidFill>
                  <a:srgbClr val="262626"/>
                </a:solidFill>
              </a:rPr>
              <a:t>Perimeter defenses such as firewalls and intrusion-detection systems are built to catch outside attackers, so they largely miss valid credentials being used for malicious purposes.</a:t>
            </a:r>
          </a:p>
          <a:p>
            <a:pPr marL="285750" indent="-285750">
              <a:spcAft>
                <a:spcPts val="1000"/>
              </a:spcAft>
              <a:buFont typeface="Arial"/>
              <a:buChar char="•"/>
            </a:pPr>
            <a:r>
              <a:rPr lang="en-US" sz="1600" dirty="0">
                <a:solidFill>
                  <a:srgbClr val="262626"/>
                </a:solidFill>
              </a:rPr>
              <a:t>Behavioral analytics offers a way forward: monitoring login times, file access volume, downloads, and device usage can reveal patterns that don't fit a user's normal routine.</a:t>
            </a:r>
          </a:p>
          <a:p>
            <a:pPr marL="285750" indent="-285750">
              <a:spcAft>
                <a:spcPts val="1000"/>
              </a:spcAft>
              <a:buFont typeface="Arial"/>
              <a:buChar char="•"/>
            </a:pPr>
            <a:r>
              <a:rPr lang="en-US" sz="1600" dirty="0">
                <a:solidFill>
                  <a:srgbClr val="262626"/>
                </a:solidFill>
              </a:rPr>
              <a:t>This project applies Elastic Net regularized Logistic Regression to structured behavioral log data — 1500 events across 23 login, file-access, and device-usage features.</a:t>
            </a:r>
          </a:p>
          <a:p>
            <a:pPr marL="285750" indent="-285750">
              <a:spcAft>
                <a:spcPts val="1000"/>
              </a:spcAft>
              <a:buFont typeface="Arial"/>
              <a:buChar char="•"/>
            </a:pPr>
            <a:r>
              <a:rPr lang="en-US" sz="1600" dirty="0">
                <a:solidFill>
                  <a:srgbClr val="262626"/>
                </a:solidFill>
              </a:rPr>
              <a:t>Goal: build an interpretable, regularized classifier that flags suspicious activity early, even when the underlying features are highly correlated with one another.</a:t>
            </a:r>
          </a:p>
        </p:txBody>
      </p:sp>
      <p:sp>
        <p:nvSpPr>
          <p:cNvPr id="20" name="StatCard20"/>
          <p:cNvSpPr/>
          <p:nvPr/>
        </p:nvSpPr>
        <p:spPr>
          <a:xfrm>
            <a:off x="8100000" y="990600"/>
            <a:ext cx="3400000" cy="1350000"/>
          </a:xfrm>
          <a:prstGeom prst="roundRect">
            <a:avLst>
              <a:gd name="adj" fmla="val 6000"/>
            </a:avLst>
          </a:prstGeom>
          <a:solidFill>
            <a:srgbClr val="FBECEC"/>
          </a:solidFill>
        </p:spPr>
        <p:txBody>
          <a:bodyPr/>
          <a:lstStyle/>
          <a:p>
            <a:endParaRPr lang="en-US"/>
          </a:p>
        </p:txBody>
      </p:sp>
      <p:sp>
        <p:nvSpPr>
          <p:cNvPr id="21" name="StatText20"/>
          <p:cNvSpPr txBox="1"/>
          <p:nvPr/>
        </p:nvSpPr>
        <p:spPr>
          <a:xfrm>
            <a:off x="8100000" y="1215600"/>
            <a:ext cx="3400000" cy="900000"/>
          </a:xfrm>
          <a:prstGeom prst="rect">
            <a:avLst/>
          </a:prstGeom>
          <a:noFill/>
        </p:spPr>
        <p:txBody>
          <a:bodyPr wrap="square" anchor="ctr"/>
          <a:lstStyle/>
          <a:p>
            <a:pPr algn="ctr"/>
            <a:r>
              <a:rPr lang="en-US" sz="2400" b="1" dirty="0">
                <a:solidFill>
                  <a:srgbClr val="C00000"/>
                </a:solidFill>
              </a:rPr>
              <a:t>23</a:t>
            </a:r>
          </a:p>
          <a:p>
            <a:pPr algn="ctr"/>
            <a:r>
              <a:rPr lang="en-US" sz="1200" dirty="0">
                <a:solidFill>
                  <a:srgbClr val="404040"/>
                </a:solidFill>
              </a:rPr>
              <a:t>Behavioral features tracked</a:t>
            </a:r>
          </a:p>
        </p:txBody>
      </p:sp>
      <p:sp>
        <p:nvSpPr>
          <p:cNvPr id="24" name="StatCard24"/>
          <p:cNvSpPr/>
          <p:nvPr/>
        </p:nvSpPr>
        <p:spPr>
          <a:xfrm>
            <a:off x="8100000" y="2500000"/>
            <a:ext cx="3400000" cy="1350000"/>
          </a:xfrm>
          <a:prstGeom prst="roundRect">
            <a:avLst>
              <a:gd name="adj" fmla="val 6000"/>
            </a:avLst>
          </a:prstGeom>
          <a:solidFill>
            <a:srgbClr val="FBECEC"/>
          </a:solidFill>
        </p:spPr>
        <p:txBody>
          <a:bodyPr/>
          <a:lstStyle/>
          <a:p>
            <a:endParaRPr lang="en-US"/>
          </a:p>
        </p:txBody>
      </p:sp>
      <p:sp>
        <p:nvSpPr>
          <p:cNvPr id="25" name="StatText24"/>
          <p:cNvSpPr txBox="1"/>
          <p:nvPr/>
        </p:nvSpPr>
        <p:spPr>
          <a:xfrm>
            <a:off x="8100000" y="2725000"/>
            <a:ext cx="3400000" cy="900000"/>
          </a:xfrm>
          <a:prstGeom prst="rect">
            <a:avLst/>
          </a:prstGeom>
          <a:noFill/>
        </p:spPr>
        <p:txBody>
          <a:bodyPr wrap="square" anchor="ctr"/>
          <a:lstStyle/>
          <a:p>
            <a:pPr algn="ctr"/>
            <a:r>
              <a:rPr lang="en-US" sz="2400" b="1" dirty="0">
                <a:solidFill>
                  <a:srgbClr val="C00000"/>
                </a:solidFill>
              </a:rPr>
              <a:t>250</a:t>
            </a:r>
          </a:p>
          <a:p>
            <a:pPr algn="ctr"/>
            <a:r>
              <a:rPr lang="en-US" sz="1200" dirty="0">
                <a:solidFill>
                  <a:srgbClr val="404040"/>
                </a:solidFill>
              </a:rPr>
              <a:t>Unique users monitored</a:t>
            </a:r>
          </a:p>
        </p:txBody>
      </p:sp>
      <p:sp>
        <p:nvSpPr>
          <p:cNvPr id="28" name="StatCard28"/>
          <p:cNvSpPr/>
          <p:nvPr/>
        </p:nvSpPr>
        <p:spPr>
          <a:xfrm>
            <a:off x="8100000" y="4010000"/>
            <a:ext cx="3400000" cy="1350000"/>
          </a:xfrm>
          <a:prstGeom prst="roundRect">
            <a:avLst>
              <a:gd name="adj" fmla="val 6000"/>
            </a:avLst>
          </a:prstGeom>
          <a:solidFill>
            <a:srgbClr val="FBECEC"/>
          </a:solidFill>
        </p:spPr>
        <p:txBody>
          <a:bodyPr/>
          <a:lstStyle/>
          <a:p>
            <a:endParaRPr lang="en-US"/>
          </a:p>
        </p:txBody>
      </p:sp>
      <p:sp>
        <p:nvSpPr>
          <p:cNvPr id="29" name="StatText28"/>
          <p:cNvSpPr txBox="1"/>
          <p:nvPr/>
        </p:nvSpPr>
        <p:spPr>
          <a:xfrm>
            <a:off x="8100000" y="4235000"/>
            <a:ext cx="3400000" cy="900000"/>
          </a:xfrm>
          <a:prstGeom prst="rect">
            <a:avLst/>
          </a:prstGeom>
          <a:noFill/>
        </p:spPr>
        <p:txBody>
          <a:bodyPr wrap="square" anchor="ctr"/>
          <a:lstStyle/>
          <a:p>
            <a:pPr algn="ctr"/>
            <a:r>
              <a:rPr lang="en-US" sz="2400" b="1" dirty="0">
                <a:solidFill>
                  <a:srgbClr val="C00000"/>
                </a:solidFill>
              </a:rPr>
              <a:t>7</a:t>
            </a:r>
          </a:p>
          <a:p>
            <a:pPr algn="ctr"/>
            <a:r>
              <a:rPr lang="en-US" sz="1200" dirty="0">
                <a:solidFill>
                  <a:srgbClr val="404040"/>
                </a:solidFill>
              </a:rPr>
              <a:t>Departments covered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LitSurvey"/>
          <p:cNvSpPr txBox="1"/>
          <p:nvPr/>
        </p:nvSpPr>
        <p:spPr>
          <a:xfrm>
            <a:off x="685800" y="950000"/>
            <a:ext cx="10820000" cy="5500000"/>
          </a:xfrm>
          <a:prstGeom prst="rect">
            <a:avLst/>
          </a:prstGeom>
          <a:noFill/>
        </p:spPr>
        <p:txBody>
          <a:bodyPr wrap="square" anchor="t">
            <a:normAutofit/>
          </a:bodyPr>
          <a:lstStyle/>
          <a:p>
            <a:pPr marL="285750" indent="-285750">
              <a:spcAft>
                <a:spcPts val="1000"/>
              </a:spcAft>
              <a:buFont typeface="Arial"/>
              <a:buChar char="•"/>
            </a:pPr>
            <a:r>
              <a:rPr lang="en-US" sz="1600" b="1" dirty="0">
                <a:solidFill>
                  <a:srgbClr val="C00000"/>
                </a:solidFill>
              </a:rPr>
              <a:t>Rule-based / SIEM systems: </a:t>
            </a:r>
            <a:r>
              <a:rPr lang="en-US" sz="1600" dirty="0">
                <a:solidFill>
                  <a:srgbClr val="262626"/>
                </a:solidFill>
              </a:rPr>
              <a:t>Rule-based &amp; SIEM systems apply static thresholds and known-misuse signatures; effective for known patterns but blind to novel behavior and prone to high false-positive rates.</a:t>
            </a:r>
          </a:p>
          <a:p>
            <a:pPr marL="285750" indent="-285750">
              <a:spcAft>
                <a:spcPts val="1000"/>
              </a:spcAft>
              <a:buFont typeface="Arial"/>
              <a:buChar char="•"/>
            </a:pPr>
            <a:r>
              <a:rPr lang="en-US" sz="1600" b="1" dirty="0">
                <a:solidFill>
                  <a:srgbClr val="C00000"/>
                </a:solidFill>
              </a:rPr>
              <a:t>Unsupervised anomaly detection: </a:t>
            </a:r>
            <a:r>
              <a:rPr lang="en-US" sz="1600" dirty="0">
                <a:solidFill>
                  <a:srgbClr val="262626"/>
                </a:solidFill>
              </a:rPr>
              <a:t>Clustering, PCA and isolation-forest methods flag outlier sessions without needing labeled attacks, but struggle to separate genuine anomalies from true insider threats.</a:t>
            </a:r>
          </a:p>
          <a:p>
            <a:pPr marL="285750" indent="-285750">
              <a:spcAft>
                <a:spcPts val="1000"/>
              </a:spcAft>
              <a:buFont typeface="Arial"/>
              <a:buChar char="•"/>
            </a:pPr>
            <a:r>
              <a:rPr lang="en-US" sz="1600" b="1" dirty="0">
                <a:solidFill>
                  <a:srgbClr val="C00000"/>
                </a:solidFill>
              </a:rPr>
              <a:t>Supervised ML classifiers: </a:t>
            </a:r>
            <a:r>
              <a:rPr lang="en-US" sz="1600" dirty="0">
                <a:solidFill>
                  <a:srgbClr val="262626"/>
                </a:solidFill>
              </a:rPr>
              <a:t>Logistic regression, random forest and SVM trained on labeled behavioral logs perform well, but plain (unregularized) models can overfit or mis-weight correlated features.</a:t>
            </a:r>
          </a:p>
          <a:p>
            <a:pPr marL="285750" indent="-285750">
              <a:spcAft>
                <a:spcPts val="1000"/>
              </a:spcAft>
              <a:buFont typeface="Arial"/>
              <a:buChar char="•"/>
            </a:pPr>
            <a:r>
              <a:rPr lang="en-US" sz="1600" b="1" dirty="0">
                <a:solidFill>
                  <a:srgbClr val="C00000"/>
                </a:solidFill>
              </a:rPr>
              <a:t>Deep learning / sequence models: </a:t>
            </a:r>
            <a:r>
              <a:rPr lang="en-US" sz="1600" dirty="0">
                <a:solidFill>
                  <a:srgbClr val="262626"/>
                </a:solidFill>
              </a:rPr>
              <a:t>LSTMs and autoencoders capture temporal user behavior and are powerful, but need large labeled datasets and are harder to interpret for security audits.</a:t>
            </a:r>
          </a:p>
          <a:p>
            <a:pPr marL="285750" indent="-285750">
              <a:spcAft>
                <a:spcPts val="1000"/>
              </a:spcAft>
              <a:buFont typeface="Arial"/>
              <a:buChar char="•"/>
            </a:pPr>
            <a:r>
              <a:rPr lang="en-US" sz="1600" b="1" dirty="0">
                <a:solidFill>
                  <a:srgbClr val="C00000"/>
                </a:solidFill>
              </a:rPr>
              <a:t>This project's direction — regularized linear models: </a:t>
            </a:r>
            <a:r>
              <a:rPr lang="en-US" sz="1600" dirty="0">
                <a:solidFill>
                  <a:srgbClr val="262626"/>
                </a:solidFill>
              </a:rPr>
              <a:t>Elastic Net logistic regression balances feature selection (L1) with stability under correlated inputs (L2) — a strong, interpretable fit given the highly correlated behavioral features observed in this dataset (e.g. file_access_count and unique_files_accessed, r ≈ 0.90).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ProbTitle"/>
          <p:cNvSpPr txBox="1"/>
          <p:nvPr/>
        </p:nvSpPr>
        <p:spPr>
          <a:xfrm>
            <a:off x="685800" y="950000"/>
            <a:ext cx="10820000" cy="400000"/>
          </a:xfrm>
          <a:prstGeom prst="rect">
            <a:avLst/>
          </a:prstGeom>
          <a:noFill/>
        </p:spPr>
        <p:txBody>
          <a:bodyPr wrap="square" anchor="t"/>
          <a:lstStyle/>
          <a:p>
            <a:pPr>
              <a:spcAft>
                <a:spcPts val="0"/>
              </a:spcAft>
            </a:pPr>
            <a:r>
              <a:rPr lang="en-US" sz="1700" b="1" dirty="0">
                <a:solidFill>
                  <a:srgbClr val="C00000"/>
                </a:solidFill>
              </a:rPr>
              <a:t>Problem Statement</a:t>
            </a:r>
          </a:p>
        </p:txBody>
      </p:sp>
      <p:sp>
        <p:nvSpPr>
          <p:cNvPr id="11" name="ProbBody"/>
          <p:cNvSpPr txBox="1"/>
          <p:nvPr/>
        </p:nvSpPr>
        <p:spPr>
          <a:xfrm>
            <a:off x="685800" y="1380000"/>
            <a:ext cx="10820000" cy="1450000"/>
          </a:xfrm>
          <a:prstGeom prst="rect">
            <a:avLst/>
          </a:prstGeom>
          <a:noFill/>
        </p:spPr>
        <p:txBody>
          <a:bodyPr wrap="square" anchor="t">
            <a:normAutofit/>
          </a:bodyPr>
          <a:lstStyle/>
          <a:p>
            <a:pPr>
              <a:spcAft>
                <a:spcPts val="0"/>
              </a:spcAft>
            </a:pPr>
            <a:r>
              <a:rPr lang="en-US" sz="1500" dirty="0">
                <a:solidFill>
                  <a:srgbClr val="262626"/>
                </a:solidFill>
              </a:rPr>
              <a:t>Malicious insiders act using valid credentials, so their activity blends into normal traffic and manual log review doesn't scale. Unregularized models further struggle with the many correlated behavioral features (e.g. file access and download volume) and the roughly 4:1 imbalance between normal and threat events.</a:t>
            </a:r>
          </a:p>
        </p:txBody>
      </p:sp>
      <p:sp>
        <p:nvSpPr>
          <p:cNvPr id="12" name="ObjTitle"/>
          <p:cNvSpPr txBox="1"/>
          <p:nvPr/>
        </p:nvSpPr>
        <p:spPr>
          <a:xfrm>
            <a:off x="685800" y="2950000"/>
            <a:ext cx="10820000" cy="400000"/>
          </a:xfrm>
          <a:prstGeom prst="rect">
            <a:avLst/>
          </a:prstGeom>
          <a:noFill/>
        </p:spPr>
        <p:txBody>
          <a:bodyPr wrap="square" anchor="t"/>
          <a:lstStyle/>
          <a:p>
            <a:pPr>
              <a:spcAft>
                <a:spcPts val="0"/>
              </a:spcAft>
            </a:pPr>
            <a:r>
              <a:rPr lang="en-US" sz="1700" b="1" dirty="0">
                <a:solidFill>
                  <a:srgbClr val="C00000"/>
                </a:solidFill>
              </a:rPr>
              <a:t>Objectives</a:t>
            </a:r>
          </a:p>
        </p:txBody>
      </p:sp>
      <p:sp>
        <p:nvSpPr>
          <p:cNvPr id="13" name="ObjBody"/>
          <p:cNvSpPr txBox="1"/>
          <p:nvPr/>
        </p:nvSpPr>
        <p:spPr>
          <a:xfrm>
            <a:off x="685800" y="3380000"/>
            <a:ext cx="10820000" cy="3000000"/>
          </a:xfrm>
          <a:prstGeom prst="rect">
            <a:avLst/>
          </a:prstGeom>
          <a:noFill/>
        </p:spPr>
        <p:txBody>
          <a:bodyPr wrap="square" anchor="t">
            <a:normAutofit/>
          </a:bodyPr>
          <a:lstStyle/>
          <a:p>
            <a:pPr marL="285750" indent="-285750">
              <a:spcAft>
                <a:spcPts val="1000"/>
              </a:spcAft>
              <a:buFont typeface="Arial"/>
              <a:buChar char="•"/>
            </a:pPr>
            <a:r>
              <a:rPr lang="en-US" sz="1500" dirty="0">
                <a:solidFill>
                  <a:srgbClr val="262626"/>
                </a:solidFill>
              </a:rPr>
              <a:t>Perform structural EDA and data-quality checks on the 1500-record insider-threat log dataset.</a:t>
            </a:r>
          </a:p>
          <a:p>
            <a:pPr marL="285750" indent="-285750">
              <a:spcAft>
                <a:spcPts val="1000"/>
              </a:spcAft>
              <a:buFont typeface="Arial"/>
              <a:buChar char="•"/>
            </a:pPr>
            <a:r>
              <a:rPr lang="en-US" sz="1500" dirty="0">
                <a:solidFill>
                  <a:srgbClr val="262626"/>
                </a:solidFill>
              </a:rPr>
              <a:t>Engineer and encode behavioral and categorical features (department, role, device type) for modeling.</a:t>
            </a:r>
          </a:p>
          <a:p>
            <a:pPr marL="285750" indent="-285750">
              <a:spcAft>
                <a:spcPts val="1000"/>
              </a:spcAft>
              <a:buFont typeface="Arial"/>
              <a:buChar char="•"/>
            </a:pPr>
            <a:r>
              <a:rPr lang="en-US" sz="1500" dirty="0">
                <a:solidFill>
                  <a:srgbClr val="262626"/>
                </a:solidFill>
              </a:rPr>
              <a:t>Handle the 80:20 class imbalance via class-weighting or resampling.</a:t>
            </a:r>
          </a:p>
          <a:p>
            <a:pPr marL="285750" indent="-285750">
              <a:spcAft>
                <a:spcPts val="1000"/>
              </a:spcAft>
              <a:buFont typeface="Arial"/>
              <a:buChar char="•"/>
            </a:pPr>
            <a:r>
              <a:rPr lang="en-US" sz="1500" dirty="0">
                <a:solidFill>
                  <a:srgbClr val="262626"/>
                </a:solidFill>
              </a:rPr>
              <a:t>Train an Elastic Net regularized Logistic Regression classifier that selects relevant features and controls multicollinearity.</a:t>
            </a:r>
          </a:p>
          <a:p>
            <a:pPr marL="285750" indent="-285750">
              <a:spcAft>
                <a:spcPts val="1000"/>
              </a:spcAft>
              <a:buFont typeface="Arial"/>
              <a:buChar char="•"/>
            </a:pPr>
            <a:r>
              <a:rPr lang="en-US" sz="1500" dirty="0">
                <a:solidFill>
                  <a:srgbClr val="262626"/>
                </a:solidFill>
              </a:rPr>
              <a:t>Evaluate the model using accuracy, precision, recall, F1-score, and ROC-AUC.</a:t>
            </a:r>
          </a:p>
          <a:p>
            <a:pPr marL="285750" indent="-285750">
              <a:spcAft>
                <a:spcPts val="1000"/>
              </a:spcAft>
              <a:buFont typeface="Arial"/>
              <a:buChar char="•"/>
            </a:pPr>
            <a:r>
              <a:rPr lang="en-US" sz="1500" dirty="0">
                <a:solidFill>
                  <a:srgbClr val="262626"/>
                </a:solidFill>
              </a:rPr>
              <a:t>Deliver an interpretable, deployable screening tool for security analysts.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 name="FlowBox0"/>
          <p:cNvSpPr/>
          <p:nvPr/>
        </p:nvSpPr>
        <p:spPr>
          <a:xfrm>
            <a:off x="2796000" y="940000"/>
            <a:ext cx="6600000" cy="560000"/>
          </a:xfrm>
          <a:prstGeom prst="roundRect">
            <a:avLst>
              <a:gd name="adj" fmla="val 6000"/>
            </a:avLst>
          </a:prstGeom>
          <a:solidFill>
            <a:srgbClr val="FBECEC"/>
          </a:solidFill>
        </p:spPr>
        <p:txBody>
          <a:bodyPr/>
          <a:lstStyle/>
          <a:p>
            <a:endParaRPr lang="en-US"/>
          </a:p>
        </p:txBody>
      </p:sp>
      <p:sp>
        <p:nvSpPr>
          <p:cNvPr id="11" name="FlowLabel0"/>
          <p:cNvSpPr txBox="1"/>
          <p:nvPr/>
        </p:nvSpPr>
        <p:spPr>
          <a:xfrm>
            <a:off x="2796000" y="940000"/>
            <a:ext cx="6600000" cy="560000"/>
          </a:xfrm>
          <a:prstGeom prst="rect">
            <a:avLst/>
          </a:prstGeom>
          <a:noFill/>
        </p:spPr>
        <p:txBody>
          <a:bodyPr wrap="square" anchor="ctr"/>
          <a:lstStyle/>
          <a:p>
            <a:pPr algn="ctr">
              <a:spcAft>
                <a:spcPts val="0"/>
              </a:spcAft>
            </a:pPr>
            <a:r>
              <a:rPr lang="en-US" sz="1400" b="1" dirty="0">
                <a:solidFill>
                  <a:srgbClr val="7A0000"/>
                </a:solidFill>
              </a:rPr>
              <a:t>1.  Data Collection (raw behavioral logs)</a:t>
            </a:r>
          </a:p>
        </p:txBody>
      </p:sp>
      <p:sp>
        <p:nvSpPr>
          <p:cNvPr id="12" name="Arrow0"/>
          <p:cNvSpPr txBox="1"/>
          <p:nvPr/>
        </p:nvSpPr>
        <p:spPr>
          <a:xfrm>
            <a:off x="2796000" y="150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13" name="FlowBox1"/>
          <p:cNvSpPr/>
          <p:nvPr/>
        </p:nvSpPr>
        <p:spPr>
          <a:xfrm>
            <a:off x="2796000" y="1690000"/>
            <a:ext cx="6600000" cy="560000"/>
          </a:xfrm>
          <a:prstGeom prst="roundRect">
            <a:avLst>
              <a:gd name="adj" fmla="val 6000"/>
            </a:avLst>
          </a:prstGeom>
          <a:solidFill>
            <a:srgbClr val="F3D9D9"/>
          </a:solidFill>
        </p:spPr>
        <p:txBody>
          <a:bodyPr/>
          <a:lstStyle/>
          <a:p>
            <a:endParaRPr lang="en-US"/>
          </a:p>
        </p:txBody>
      </p:sp>
      <p:sp>
        <p:nvSpPr>
          <p:cNvPr id="14" name="FlowLabel1"/>
          <p:cNvSpPr txBox="1"/>
          <p:nvPr/>
        </p:nvSpPr>
        <p:spPr>
          <a:xfrm>
            <a:off x="2796000" y="1690000"/>
            <a:ext cx="6600000" cy="560000"/>
          </a:xfrm>
          <a:prstGeom prst="rect">
            <a:avLst/>
          </a:prstGeom>
          <a:noFill/>
        </p:spPr>
        <p:txBody>
          <a:bodyPr wrap="square" anchor="ctr"/>
          <a:lstStyle/>
          <a:p>
            <a:pPr algn="ctr">
              <a:spcAft>
                <a:spcPts val="0"/>
              </a:spcAft>
            </a:pPr>
            <a:r>
              <a:rPr lang="en-US" sz="1400" b="1" dirty="0">
                <a:solidFill>
                  <a:srgbClr val="7A0000"/>
                </a:solidFill>
              </a:rPr>
              <a:t>2.  Data Quality Checks (missing values &amp; duplicates)</a:t>
            </a:r>
          </a:p>
        </p:txBody>
      </p:sp>
      <p:sp>
        <p:nvSpPr>
          <p:cNvPr id="15" name="Arrow1"/>
          <p:cNvSpPr txBox="1"/>
          <p:nvPr/>
        </p:nvSpPr>
        <p:spPr>
          <a:xfrm>
            <a:off x="2796000" y="225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16" name="FlowBox2"/>
          <p:cNvSpPr/>
          <p:nvPr/>
        </p:nvSpPr>
        <p:spPr>
          <a:xfrm>
            <a:off x="2796000" y="2440000"/>
            <a:ext cx="6600000" cy="560000"/>
          </a:xfrm>
          <a:prstGeom prst="roundRect">
            <a:avLst>
              <a:gd name="adj" fmla="val 6000"/>
            </a:avLst>
          </a:prstGeom>
          <a:solidFill>
            <a:srgbClr val="FBECEC"/>
          </a:solidFill>
        </p:spPr>
        <p:txBody>
          <a:bodyPr/>
          <a:lstStyle/>
          <a:p>
            <a:endParaRPr lang="en-US"/>
          </a:p>
        </p:txBody>
      </p:sp>
      <p:sp>
        <p:nvSpPr>
          <p:cNvPr id="17" name="FlowLabel2"/>
          <p:cNvSpPr txBox="1"/>
          <p:nvPr/>
        </p:nvSpPr>
        <p:spPr>
          <a:xfrm>
            <a:off x="2796000" y="2440000"/>
            <a:ext cx="6600000" cy="560000"/>
          </a:xfrm>
          <a:prstGeom prst="rect">
            <a:avLst/>
          </a:prstGeom>
          <a:noFill/>
        </p:spPr>
        <p:txBody>
          <a:bodyPr wrap="square" anchor="ctr"/>
          <a:lstStyle/>
          <a:p>
            <a:pPr algn="ctr">
              <a:spcAft>
                <a:spcPts val="0"/>
              </a:spcAft>
            </a:pPr>
            <a:r>
              <a:rPr lang="en-US" sz="1400" b="1" dirty="0">
                <a:solidFill>
                  <a:srgbClr val="7A0000"/>
                </a:solidFill>
              </a:rPr>
              <a:t>3.  Exploratory Data Analysis (EDA)</a:t>
            </a:r>
          </a:p>
        </p:txBody>
      </p:sp>
      <p:sp>
        <p:nvSpPr>
          <p:cNvPr id="18" name="Arrow2"/>
          <p:cNvSpPr txBox="1"/>
          <p:nvPr/>
        </p:nvSpPr>
        <p:spPr>
          <a:xfrm>
            <a:off x="2796000" y="300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19" name="FlowBox3"/>
          <p:cNvSpPr/>
          <p:nvPr/>
        </p:nvSpPr>
        <p:spPr>
          <a:xfrm>
            <a:off x="2796000" y="3190000"/>
            <a:ext cx="6600000" cy="560000"/>
          </a:xfrm>
          <a:prstGeom prst="roundRect">
            <a:avLst>
              <a:gd name="adj" fmla="val 6000"/>
            </a:avLst>
          </a:prstGeom>
          <a:solidFill>
            <a:srgbClr val="F3D9D9"/>
          </a:solidFill>
        </p:spPr>
        <p:txBody>
          <a:bodyPr/>
          <a:lstStyle/>
          <a:p>
            <a:endParaRPr lang="en-US"/>
          </a:p>
        </p:txBody>
      </p:sp>
      <p:sp>
        <p:nvSpPr>
          <p:cNvPr id="20" name="FlowLabel3"/>
          <p:cNvSpPr txBox="1"/>
          <p:nvPr/>
        </p:nvSpPr>
        <p:spPr>
          <a:xfrm>
            <a:off x="2796000" y="3190000"/>
            <a:ext cx="6600000" cy="560000"/>
          </a:xfrm>
          <a:prstGeom prst="rect">
            <a:avLst/>
          </a:prstGeom>
          <a:noFill/>
        </p:spPr>
        <p:txBody>
          <a:bodyPr wrap="square" anchor="ctr"/>
          <a:lstStyle/>
          <a:p>
            <a:pPr algn="ctr">
              <a:spcAft>
                <a:spcPts val="0"/>
              </a:spcAft>
            </a:pPr>
            <a:r>
              <a:rPr lang="en-US" sz="1400" b="1" dirty="0">
                <a:solidFill>
                  <a:srgbClr val="7A0000"/>
                </a:solidFill>
              </a:rPr>
              <a:t>4.  Feature Engineering &amp; Encoding</a:t>
            </a:r>
          </a:p>
        </p:txBody>
      </p:sp>
      <p:sp>
        <p:nvSpPr>
          <p:cNvPr id="21" name="Arrow3"/>
          <p:cNvSpPr txBox="1"/>
          <p:nvPr/>
        </p:nvSpPr>
        <p:spPr>
          <a:xfrm>
            <a:off x="2796000" y="375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22" name="FlowBox4"/>
          <p:cNvSpPr/>
          <p:nvPr/>
        </p:nvSpPr>
        <p:spPr>
          <a:xfrm>
            <a:off x="2796000" y="3940000"/>
            <a:ext cx="6600000" cy="560000"/>
          </a:xfrm>
          <a:prstGeom prst="roundRect">
            <a:avLst>
              <a:gd name="adj" fmla="val 6000"/>
            </a:avLst>
          </a:prstGeom>
          <a:solidFill>
            <a:srgbClr val="FBECEC"/>
          </a:solidFill>
        </p:spPr>
        <p:txBody>
          <a:bodyPr/>
          <a:lstStyle/>
          <a:p>
            <a:endParaRPr lang="en-US"/>
          </a:p>
        </p:txBody>
      </p:sp>
      <p:sp>
        <p:nvSpPr>
          <p:cNvPr id="23" name="FlowLabel4"/>
          <p:cNvSpPr txBox="1"/>
          <p:nvPr/>
        </p:nvSpPr>
        <p:spPr>
          <a:xfrm>
            <a:off x="2796000" y="3940000"/>
            <a:ext cx="6600000" cy="560000"/>
          </a:xfrm>
          <a:prstGeom prst="rect">
            <a:avLst/>
          </a:prstGeom>
          <a:noFill/>
        </p:spPr>
        <p:txBody>
          <a:bodyPr wrap="square" anchor="ctr"/>
          <a:lstStyle/>
          <a:p>
            <a:pPr algn="ctr">
              <a:spcAft>
                <a:spcPts val="0"/>
              </a:spcAft>
            </a:pPr>
            <a:r>
              <a:rPr lang="en-US" sz="1400" b="1" dirty="0">
                <a:solidFill>
                  <a:srgbClr val="7A0000"/>
                </a:solidFill>
              </a:rPr>
              <a:t>5.  Train / Test Split + Class-Imbalance Handling</a:t>
            </a:r>
          </a:p>
        </p:txBody>
      </p:sp>
      <p:sp>
        <p:nvSpPr>
          <p:cNvPr id="24" name="Arrow4"/>
          <p:cNvSpPr txBox="1"/>
          <p:nvPr/>
        </p:nvSpPr>
        <p:spPr>
          <a:xfrm>
            <a:off x="2796000" y="450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25" name="FlowBox5"/>
          <p:cNvSpPr/>
          <p:nvPr/>
        </p:nvSpPr>
        <p:spPr>
          <a:xfrm>
            <a:off x="2796000" y="4690000"/>
            <a:ext cx="6600000" cy="560000"/>
          </a:xfrm>
          <a:prstGeom prst="roundRect">
            <a:avLst>
              <a:gd name="adj" fmla="val 6000"/>
            </a:avLst>
          </a:prstGeom>
          <a:solidFill>
            <a:srgbClr val="F3D9D9"/>
          </a:solidFill>
        </p:spPr>
        <p:txBody>
          <a:bodyPr/>
          <a:lstStyle/>
          <a:p>
            <a:endParaRPr lang="en-US"/>
          </a:p>
        </p:txBody>
      </p:sp>
      <p:sp>
        <p:nvSpPr>
          <p:cNvPr id="26" name="FlowLabel5"/>
          <p:cNvSpPr txBox="1"/>
          <p:nvPr/>
        </p:nvSpPr>
        <p:spPr>
          <a:xfrm>
            <a:off x="2796000" y="4690000"/>
            <a:ext cx="6600000" cy="560000"/>
          </a:xfrm>
          <a:prstGeom prst="rect">
            <a:avLst/>
          </a:prstGeom>
          <a:noFill/>
        </p:spPr>
        <p:txBody>
          <a:bodyPr wrap="square" anchor="ctr"/>
          <a:lstStyle/>
          <a:p>
            <a:pPr algn="ctr">
              <a:spcAft>
                <a:spcPts val="0"/>
              </a:spcAft>
            </a:pPr>
            <a:r>
              <a:rPr lang="en-US" sz="1400" b="1" dirty="0">
                <a:solidFill>
                  <a:srgbClr val="7A0000"/>
                </a:solidFill>
              </a:rPr>
              <a:t>6.  Elastic Net Logistic Regression Training</a:t>
            </a:r>
          </a:p>
        </p:txBody>
      </p:sp>
      <p:sp>
        <p:nvSpPr>
          <p:cNvPr id="27" name="Arrow5"/>
          <p:cNvSpPr txBox="1"/>
          <p:nvPr/>
        </p:nvSpPr>
        <p:spPr>
          <a:xfrm>
            <a:off x="2796000" y="5250000"/>
            <a:ext cx="6600000" cy="190000"/>
          </a:xfrm>
          <a:prstGeom prst="rect">
            <a:avLst/>
          </a:prstGeom>
          <a:noFill/>
        </p:spPr>
        <p:txBody>
          <a:bodyPr wrap="square" anchor="ctr"/>
          <a:lstStyle/>
          <a:p>
            <a:pPr algn="ctr">
              <a:spcAft>
                <a:spcPts val="0"/>
              </a:spcAft>
            </a:pPr>
            <a:r>
              <a:rPr lang="en-US" sz="1400" b="1" dirty="0">
                <a:solidFill>
                  <a:srgbClr val="C00000"/>
                </a:solidFill>
              </a:rPr>
              <a:t>↓</a:t>
            </a:r>
          </a:p>
        </p:txBody>
      </p:sp>
      <p:sp>
        <p:nvSpPr>
          <p:cNvPr id="28" name="FlowBox6"/>
          <p:cNvSpPr/>
          <p:nvPr/>
        </p:nvSpPr>
        <p:spPr>
          <a:xfrm>
            <a:off x="2796000" y="5440000"/>
            <a:ext cx="6600000" cy="560000"/>
          </a:xfrm>
          <a:prstGeom prst="roundRect">
            <a:avLst>
              <a:gd name="adj" fmla="val 6000"/>
            </a:avLst>
          </a:prstGeom>
          <a:solidFill>
            <a:srgbClr val="FBECEC"/>
          </a:solidFill>
        </p:spPr>
        <p:txBody>
          <a:bodyPr/>
          <a:lstStyle/>
          <a:p>
            <a:endParaRPr lang="en-US"/>
          </a:p>
        </p:txBody>
      </p:sp>
      <p:sp>
        <p:nvSpPr>
          <p:cNvPr id="29" name="FlowLabel6"/>
          <p:cNvSpPr txBox="1"/>
          <p:nvPr/>
        </p:nvSpPr>
        <p:spPr>
          <a:xfrm>
            <a:off x="2796000" y="5440000"/>
            <a:ext cx="6600000" cy="560000"/>
          </a:xfrm>
          <a:prstGeom prst="rect">
            <a:avLst/>
          </a:prstGeom>
          <a:noFill/>
        </p:spPr>
        <p:txBody>
          <a:bodyPr wrap="square" anchor="ctr"/>
          <a:lstStyle/>
          <a:p>
            <a:pPr algn="ctr">
              <a:spcAft>
                <a:spcPts val="0"/>
              </a:spcAft>
            </a:pPr>
            <a:r>
              <a:rPr sz="1800" b="1">
                <a:solidFill>
                  <a:srgbClr val="7A0000"/>
                </a:solidFill>
                <a:latin typeface="Aptos"/>
              </a:rPr>
              <a:t>7.  Evaluation → Prediction API → Dashboard &amp; Monitoring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ResultsSubtitle"/>
          <p:cNvSpPr txBox="1"/>
          <p:nvPr/>
        </p:nvSpPr>
        <p:spPr>
          <a:xfrm>
            <a:off x="685800" y="890000"/>
            <a:ext cx="10820000" cy="330000"/>
          </a:xfrm>
          <a:prstGeom prst="rect">
            <a:avLst/>
          </a:prstGeom>
          <a:noFill/>
        </p:spPr>
        <p:txBody>
          <a:bodyPr wrap="square" anchor="t"/>
          <a:lstStyle/>
          <a:p>
            <a:pPr algn="ctr">
              <a:spcAft>
                <a:spcPts val="0"/>
              </a:spcAft>
            </a:pPr>
            <a:r>
              <a:rPr sz="1600" b="1">
                <a:solidFill>
                  <a:srgbClr val="C00000"/>
                </a:solidFill>
                <a:latin typeface="Aptos"/>
              </a:rPr>
              <a:t>Exploratory Data Analysis — dataset quality and behavior patterns</a:t>
            </a:r>
          </a:p>
        </p:txBody>
      </p:sp>
      <p:sp>
        <p:nvSpPr>
          <p:cNvPr id="20" name="StatCard20"/>
          <p:cNvSpPr/>
          <p:nvPr/>
        </p:nvSpPr>
        <p:spPr>
          <a:xfrm>
            <a:off x="685800" y="1300000"/>
            <a:ext cx="2650000" cy="850000"/>
          </a:xfrm>
          <a:prstGeom prst="roundRect">
            <a:avLst>
              <a:gd name="adj" fmla="val 6000"/>
            </a:avLst>
          </a:prstGeom>
          <a:solidFill>
            <a:srgbClr val="FBECEC"/>
          </a:solidFill>
        </p:spPr>
        <p:txBody>
          <a:bodyPr/>
          <a:lstStyle/>
          <a:p>
            <a:endParaRPr lang="en-US"/>
          </a:p>
        </p:txBody>
      </p:sp>
      <p:sp>
        <p:nvSpPr>
          <p:cNvPr id="21" name="StatText20"/>
          <p:cNvSpPr txBox="1"/>
          <p:nvPr/>
        </p:nvSpPr>
        <p:spPr>
          <a:xfrm>
            <a:off x="685800" y="1275000"/>
            <a:ext cx="2650000" cy="900000"/>
          </a:xfrm>
          <a:prstGeom prst="rect">
            <a:avLst/>
          </a:prstGeom>
          <a:noFill/>
        </p:spPr>
        <p:txBody>
          <a:bodyPr wrap="square" anchor="ctr"/>
          <a:lstStyle/>
          <a:p>
            <a:pPr algn="ctr"/>
            <a:r>
              <a:rPr lang="en-US" sz="2400" b="1" dirty="0">
                <a:solidFill>
                  <a:srgbClr val="C00000"/>
                </a:solidFill>
              </a:rPr>
              <a:t>1500</a:t>
            </a:r>
          </a:p>
          <a:p>
            <a:pPr algn="ctr"/>
            <a:r>
              <a:rPr lang="en-US" sz="1200" dirty="0">
                <a:solidFill>
                  <a:srgbClr val="404040"/>
                </a:solidFill>
              </a:rPr>
              <a:t>Event records</a:t>
            </a:r>
          </a:p>
        </p:txBody>
      </p:sp>
      <p:sp>
        <p:nvSpPr>
          <p:cNvPr id="30" name="StatCard30"/>
          <p:cNvSpPr/>
          <p:nvPr/>
        </p:nvSpPr>
        <p:spPr>
          <a:xfrm>
            <a:off x="3465800" y="1300000"/>
            <a:ext cx="2650000" cy="850000"/>
          </a:xfrm>
          <a:prstGeom prst="roundRect">
            <a:avLst>
              <a:gd name="adj" fmla="val 6000"/>
            </a:avLst>
          </a:prstGeom>
          <a:solidFill>
            <a:srgbClr val="FBECEC"/>
          </a:solidFill>
        </p:spPr>
        <p:txBody>
          <a:bodyPr/>
          <a:lstStyle/>
          <a:p>
            <a:endParaRPr lang="en-US"/>
          </a:p>
        </p:txBody>
      </p:sp>
      <p:sp>
        <p:nvSpPr>
          <p:cNvPr id="31" name="StatText30"/>
          <p:cNvSpPr txBox="1"/>
          <p:nvPr/>
        </p:nvSpPr>
        <p:spPr>
          <a:xfrm>
            <a:off x="3465800" y="1275000"/>
            <a:ext cx="2650000" cy="900000"/>
          </a:xfrm>
          <a:prstGeom prst="rect">
            <a:avLst/>
          </a:prstGeom>
          <a:noFill/>
        </p:spPr>
        <p:txBody>
          <a:bodyPr wrap="square" anchor="ctr"/>
          <a:lstStyle/>
          <a:p>
            <a:pPr algn="ctr"/>
            <a:r>
              <a:rPr lang="en-US" sz="2400" b="1" dirty="0">
                <a:solidFill>
                  <a:srgbClr val="C00000"/>
                </a:solidFill>
              </a:rPr>
              <a:t>23</a:t>
            </a:r>
          </a:p>
          <a:p>
            <a:pPr algn="ctr"/>
            <a:r>
              <a:rPr lang="en-US" sz="1200" dirty="0">
                <a:solidFill>
                  <a:srgbClr val="404040"/>
                </a:solidFill>
              </a:rPr>
              <a:t>Features</a:t>
            </a:r>
          </a:p>
        </p:txBody>
      </p:sp>
      <p:sp>
        <p:nvSpPr>
          <p:cNvPr id="40" name="StatCard40"/>
          <p:cNvSpPr/>
          <p:nvPr/>
        </p:nvSpPr>
        <p:spPr>
          <a:xfrm>
            <a:off x="6245800" y="1300000"/>
            <a:ext cx="2650000" cy="850000"/>
          </a:xfrm>
          <a:prstGeom prst="roundRect">
            <a:avLst>
              <a:gd name="adj" fmla="val 6000"/>
            </a:avLst>
          </a:prstGeom>
          <a:solidFill>
            <a:srgbClr val="FBECEC"/>
          </a:solidFill>
        </p:spPr>
        <p:txBody>
          <a:bodyPr/>
          <a:lstStyle/>
          <a:p>
            <a:endParaRPr lang="en-US"/>
          </a:p>
        </p:txBody>
      </p:sp>
      <p:sp>
        <p:nvSpPr>
          <p:cNvPr id="41" name="StatText40"/>
          <p:cNvSpPr txBox="1"/>
          <p:nvPr/>
        </p:nvSpPr>
        <p:spPr>
          <a:xfrm>
            <a:off x="6245800" y="1275000"/>
            <a:ext cx="2650000" cy="900000"/>
          </a:xfrm>
          <a:prstGeom prst="rect">
            <a:avLst/>
          </a:prstGeom>
          <a:noFill/>
        </p:spPr>
        <p:txBody>
          <a:bodyPr wrap="square" anchor="ctr"/>
          <a:lstStyle/>
          <a:p>
            <a:pPr algn="ctr"/>
            <a:r>
              <a:rPr lang="en-US" sz="2400" b="1" dirty="0">
                <a:solidFill>
                  <a:srgbClr val="C00000"/>
                </a:solidFill>
              </a:rPr>
              <a:t>0</a:t>
            </a:r>
          </a:p>
          <a:p>
            <a:pPr algn="ctr"/>
            <a:r>
              <a:rPr lang="en-US" sz="1200" dirty="0">
                <a:solidFill>
                  <a:srgbClr val="404040"/>
                </a:solidFill>
              </a:rPr>
              <a:t>Missing / duplicate values</a:t>
            </a:r>
          </a:p>
        </p:txBody>
      </p:sp>
      <p:sp>
        <p:nvSpPr>
          <p:cNvPr id="50" name="StatCard50"/>
          <p:cNvSpPr/>
          <p:nvPr/>
        </p:nvSpPr>
        <p:spPr>
          <a:xfrm>
            <a:off x="9025800" y="1300000"/>
            <a:ext cx="2650000" cy="850000"/>
          </a:xfrm>
          <a:prstGeom prst="roundRect">
            <a:avLst>
              <a:gd name="adj" fmla="val 6000"/>
            </a:avLst>
          </a:prstGeom>
          <a:solidFill>
            <a:srgbClr val="FBECEC"/>
          </a:solidFill>
        </p:spPr>
        <p:txBody>
          <a:bodyPr/>
          <a:lstStyle/>
          <a:p>
            <a:endParaRPr lang="en-US"/>
          </a:p>
        </p:txBody>
      </p:sp>
      <p:sp>
        <p:nvSpPr>
          <p:cNvPr id="51" name="StatText50"/>
          <p:cNvSpPr txBox="1"/>
          <p:nvPr/>
        </p:nvSpPr>
        <p:spPr>
          <a:xfrm>
            <a:off x="9025800" y="1275000"/>
            <a:ext cx="2650000" cy="900000"/>
          </a:xfrm>
          <a:prstGeom prst="rect">
            <a:avLst/>
          </a:prstGeom>
          <a:noFill/>
        </p:spPr>
        <p:txBody>
          <a:bodyPr wrap="square" anchor="ctr"/>
          <a:lstStyle/>
          <a:p>
            <a:pPr algn="ctr"/>
            <a:r>
              <a:rPr lang="en-US" sz="2400" b="1" dirty="0">
                <a:solidFill>
                  <a:srgbClr val="C00000"/>
                </a:solidFill>
              </a:rPr>
              <a:t>80:20</a:t>
            </a:r>
          </a:p>
          <a:p>
            <a:pPr algn="ctr"/>
            <a:r>
              <a:rPr lang="en-US" sz="1200" dirty="0">
                <a:solidFill>
                  <a:srgbClr val="404040"/>
                </a:solidFill>
              </a:rPr>
              <a:t>Normal : Threat ratio</a:t>
            </a:r>
          </a:p>
        </p:txBody>
      </p:sp>
      <p:pic>
        <p:nvPicPr>
          <p:cNvPr id="60" name="CorrHeatmap"/>
          <p:cNvPicPr>
            <a:picLocks noChangeAspect="1"/>
          </p:cNvPicPr>
          <p:nvPr/>
        </p:nvPicPr>
        <p:blipFill>
          <a:blip r:embed="rId2"/>
          <a:stretch>
            <a:fillRect/>
          </a:stretch>
        </p:blipFill>
        <p:spPr>
          <a:xfrm>
            <a:off x="685800" y="2330000"/>
            <a:ext cx="3373200" cy="3000000"/>
          </a:xfrm>
          <a:prstGeom prst="rect">
            <a:avLst/>
          </a:prstGeom>
        </p:spPr>
      </p:pic>
      <p:sp>
        <p:nvSpPr>
          <p:cNvPr id="61" name="Cap1"/>
          <p:cNvSpPr txBox="1"/>
          <p:nvPr/>
        </p:nvSpPr>
        <p:spPr>
          <a:xfrm>
            <a:off x="685800" y="5360000"/>
            <a:ext cx="3373200" cy="260000"/>
          </a:xfrm>
          <a:prstGeom prst="rect">
            <a:avLst/>
          </a:prstGeom>
          <a:noFill/>
        </p:spPr>
        <p:txBody>
          <a:bodyPr wrap="square" anchor="t"/>
          <a:lstStyle/>
          <a:p>
            <a:pPr algn="ctr">
              <a:spcAft>
                <a:spcPts val="0"/>
              </a:spcAft>
            </a:pPr>
            <a:r>
              <a:rPr lang="en-US" sz="1050" dirty="0">
                <a:solidFill>
                  <a:srgbClr val="595959"/>
                </a:solidFill>
              </a:rPr>
              <a:t>Correlation heatmap — numerical features</a:t>
            </a:r>
          </a:p>
        </p:txBody>
      </p:sp>
      <p:pic>
        <p:nvPicPr>
          <p:cNvPr id="62" name="TargetDist"/>
          <p:cNvPicPr>
            <a:picLocks noChangeAspect="1"/>
          </p:cNvPicPr>
          <p:nvPr/>
        </p:nvPicPr>
        <p:blipFill>
          <a:blip r:embed="rId3"/>
          <a:stretch>
            <a:fillRect/>
          </a:stretch>
        </p:blipFill>
        <p:spPr>
          <a:xfrm>
            <a:off x="4359000" y="2330000"/>
            <a:ext cx="7029900" cy="3000000"/>
          </a:xfrm>
          <a:prstGeom prst="rect">
            <a:avLst/>
          </a:prstGeom>
        </p:spPr>
      </p:pic>
      <p:sp>
        <p:nvSpPr>
          <p:cNvPr id="63" name="Cap2"/>
          <p:cNvSpPr txBox="1"/>
          <p:nvPr/>
        </p:nvSpPr>
        <p:spPr>
          <a:xfrm>
            <a:off x="4359000" y="5360000"/>
            <a:ext cx="7029900" cy="260000"/>
          </a:xfrm>
          <a:prstGeom prst="rect">
            <a:avLst/>
          </a:prstGeom>
          <a:noFill/>
        </p:spPr>
        <p:txBody>
          <a:bodyPr wrap="square" anchor="t"/>
          <a:lstStyle/>
          <a:p>
            <a:pPr algn="ctr">
              <a:spcAft>
                <a:spcPts val="0"/>
              </a:spcAft>
            </a:pPr>
            <a:r>
              <a:rPr lang="en-US" sz="1050" dirty="0">
                <a:solidFill>
                  <a:srgbClr val="595959"/>
                </a:solidFill>
              </a:rPr>
              <a:t>Class distribution — Normal vs Threat (80% / 20%)</a:t>
            </a:r>
          </a:p>
        </p:txBody>
      </p:sp>
      <p:sp>
        <p:nvSpPr>
          <p:cNvPr id="64" name="KeyFindings"/>
          <p:cNvSpPr txBox="1"/>
          <p:nvPr/>
        </p:nvSpPr>
        <p:spPr>
          <a:xfrm>
            <a:off x="685800" y="5670000"/>
            <a:ext cx="10820000" cy="1050000"/>
          </a:xfrm>
          <a:prstGeom prst="rect">
            <a:avLst/>
          </a:prstGeom>
          <a:noFill/>
        </p:spPr>
        <p:txBody>
          <a:bodyPr wrap="square" anchor="t">
            <a:normAutofit/>
          </a:bodyPr>
          <a:lstStyle/>
          <a:p>
            <a:pPr marL="200000" indent="-200000">
              <a:spcAft>
                <a:spcPts val="300"/>
              </a:spcAft>
              <a:buFont typeface="Arial"/>
              <a:buChar char="•"/>
            </a:pPr>
            <a:r>
              <a:rPr sz="1200">
                <a:solidFill>
                  <a:srgbClr val="262626"/>
                </a:solidFill>
                <a:latin typeface="Aptos"/>
              </a:rPr>
              <a:t>Key findings: file-access and HTTP activity strongly correlate with the threat label. The 80:20 class split motivates class weighting. Correlated features support using Elastic Net regularization.</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TextBox 1"/>
          <p:cNvSpPr txBox="1"/>
          <p:nvPr/>
        </p:nvSpPr>
        <p:spPr>
          <a:xfrm>
            <a:off x="2305841" y="237744"/>
            <a:ext cx="11155680" cy="502920"/>
          </a:xfrm>
          <a:prstGeom prst="rect">
            <a:avLst/>
          </a:prstGeom>
          <a:noFill/>
        </p:spPr>
        <p:txBody>
          <a:bodyPr wrap="none">
            <a:spAutoFit/>
          </a:bodyPr>
          <a:lstStyle/>
          <a:p>
            <a:pPr>
              <a:defRPr sz="2800" b="1">
                <a:solidFill>
                  <a:srgbClr val="163053"/>
                </a:solidFill>
                <a:latin typeface="Aptos Display"/>
              </a:defRPr>
            </a:pPr>
            <a:r>
              <a:t>Model Evaluation Results</a:t>
            </a:r>
          </a:p>
        </p:txBody>
      </p:sp>
      <p:sp>
        <p:nvSpPr>
          <p:cNvPr id="3" name="Rectangle 2"/>
          <p:cNvSpPr/>
          <p:nvPr/>
        </p:nvSpPr>
        <p:spPr>
          <a:xfrm>
            <a:off x="502920" y="804672"/>
            <a:ext cx="11155680" cy="41148"/>
          </a:xfrm>
          <a:prstGeom prst="rect">
            <a:avLst/>
          </a:prstGeom>
          <a:solidFill>
            <a:srgbClr val="27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96112"/>
            <a:ext cx="10972800" cy="320040"/>
          </a:xfrm>
          <a:prstGeom prst="rect">
            <a:avLst/>
          </a:prstGeom>
          <a:noFill/>
        </p:spPr>
        <p:txBody>
          <a:bodyPr wrap="none">
            <a:spAutoFit/>
          </a:bodyPr>
          <a:lstStyle/>
          <a:p>
            <a:pPr>
              <a:defRPr sz="1200">
                <a:solidFill>
                  <a:srgbClr val="2D3748"/>
                </a:solidFill>
              </a:defRPr>
            </a:pPr>
            <a:r>
              <a:t>Held-out test set: 300 records (240 normal, 60 threat); threshold = 0.50</a:t>
            </a:r>
          </a:p>
        </p:txBody>
      </p:sp>
      <p:graphicFrame>
        <p:nvGraphicFramePr>
          <p:cNvPr id="5" name="Table 4"/>
          <p:cNvGraphicFramePr>
            <a:graphicFrameLocks noGrp="1"/>
          </p:cNvGraphicFramePr>
          <p:nvPr/>
        </p:nvGraphicFramePr>
        <p:xfrm>
          <a:off x="548640" y="1417320"/>
          <a:ext cx="6519672" cy="182880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457200">
                <a:tc>
                  <a:txBody>
                    <a:bodyPr/>
                    <a:lstStyle/>
                    <a:p>
                      <a:r>
                        <a:rPr sz="1000" b="1">
                          <a:solidFill>
                            <a:srgbClr val="FFFFFF"/>
                          </a:solidFill>
                        </a:rPr>
                        <a:t>Model</a:t>
                      </a:r>
                    </a:p>
                  </a:txBody>
                  <a:tcPr>
                    <a:solidFill>
                      <a:srgbClr val="163053"/>
                    </a:solidFill>
                  </a:tcPr>
                </a:tc>
                <a:tc>
                  <a:txBody>
                    <a:bodyPr/>
                    <a:lstStyle/>
                    <a:p>
                      <a:r>
                        <a:rPr sz="1000" b="1">
                          <a:solidFill>
                            <a:srgbClr val="FFFFFF"/>
                          </a:solidFill>
                        </a:rPr>
                        <a:t>Accuracy</a:t>
                      </a:r>
                    </a:p>
                  </a:txBody>
                  <a:tcPr>
                    <a:solidFill>
                      <a:srgbClr val="163053"/>
                    </a:solidFill>
                  </a:tcPr>
                </a:tc>
                <a:tc>
                  <a:txBody>
                    <a:bodyPr/>
                    <a:lstStyle/>
                    <a:p>
                      <a:r>
                        <a:rPr sz="1000" b="1">
                          <a:solidFill>
                            <a:srgbClr val="FFFFFF"/>
                          </a:solidFill>
                        </a:rPr>
                        <a:t>Precision</a:t>
                      </a:r>
                    </a:p>
                  </a:txBody>
                  <a:tcPr>
                    <a:solidFill>
                      <a:srgbClr val="163053"/>
                    </a:solidFill>
                  </a:tcPr>
                </a:tc>
                <a:tc>
                  <a:txBody>
                    <a:bodyPr/>
                    <a:lstStyle/>
                    <a:p>
                      <a:r>
                        <a:rPr sz="1000" b="1">
                          <a:solidFill>
                            <a:srgbClr val="FFFFFF"/>
                          </a:solidFill>
                        </a:rPr>
                        <a:t>Recall</a:t>
                      </a:r>
                    </a:p>
                  </a:txBody>
                  <a:tcPr>
                    <a:solidFill>
                      <a:srgbClr val="163053"/>
                    </a:solidFill>
                  </a:tcPr>
                </a:tc>
                <a:tc>
                  <a:txBody>
                    <a:bodyPr/>
                    <a:lstStyle/>
                    <a:p>
                      <a:r>
                        <a:rPr sz="1000" b="1">
                          <a:solidFill>
                            <a:srgbClr val="FFFFFF"/>
                          </a:solidFill>
                        </a:rPr>
                        <a:t>F1-score</a:t>
                      </a:r>
                    </a:p>
                  </a:txBody>
                  <a:tcPr>
                    <a:solidFill>
                      <a:srgbClr val="163053"/>
                    </a:solidFill>
                  </a:tcPr>
                </a:tc>
                <a:tc>
                  <a:txBody>
                    <a:bodyPr/>
                    <a:lstStyle/>
                    <a:p>
                      <a:r>
                        <a:rPr sz="1000" b="1">
                          <a:solidFill>
                            <a:srgbClr val="FFFFFF"/>
                          </a:solidFill>
                        </a:rPr>
                        <a:t>ROC-AUC</a:t>
                      </a:r>
                    </a:p>
                  </a:txBody>
                  <a:tcPr>
                    <a:solidFill>
                      <a:srgbClr val="163053"/>
                    </a:solidFill>
                  </a:tcPr>
                </a:tc>
                <a:extLst>
                  <a:ext uri="{0D108BD9-81ED-4DB2-BD59-A6C34878D82A}">
                    <a16:rowId xmlns:a16="http://schemas.microsoft.com/office/drawing/2014/main" val="10000"/>
                  </a:ext>
                </a:extLst>
              </a:tr>
              <a:tr h="457200">
                <a:tc>
                  <a:txBody>
                    <a:bodyPr/>
                    <a:lstStyle/>
                    <a:p>
                      <a:r>
                        <a:rPr sz="900">
                          <a:solidFill>
                            <a:srgbClr val="2D3748"/>
                          </a:solidFill>
                        </a:rPr>
                        <a:t>Elastic Net Logistic Regression</a:t>
                      </a:r>
                    </a:p>
                  </a:txBody>
                  <a:tcPr>
                    <a:solidFill>
                      <a:srgbClr val="F2F7FC"/>
                    </a:solidFill>
                  </a:tcPr>
                </a:tc>
                <a:tc>
                  <a:txBody>
                    <a:bodyPr/>
                    <a:lstStyle/>
                    <a:p>
                      <a:r>
                        <a:rPr sz="900">
                          <a:solidFill>
                            <a:srgbClr val="2D3748"/>
                          </a:solidFill>
                        </a:rPr>
                        <a:t>100%</a:t>
                      </a:r>
                    </a:p>
                  </a:txBody>
                  <a:tcPr>
                    <a:solidFill>
                      <a:srgbClr val="F2F7FC"/>
                    </a:solidFill>
                  </a:tcPr>
                </a:tc>
                <a:tc>
                  <a:txBody>
                    <a:bodyPr/>
                    <a:lstStyle/>
                    <a:p>
                      <a:r>
                        <a:rPr sz="900">
                          <a:solidFill>
                            <a:srgbClr val="2D3748"/>
                          </a:solidFill>
                        </a:rPr>
                        <a:t>100%</a:t>
                      </a:r>
                    </a:p>
                  </a:txBody>
                  <a:tcPr>
                    <a:solidFill>
                      <a:srgbClr val="F2F7FC"/>
                    </a:solidFill>
                  </a:tcPr>
                </a:tc>
                <a:tc>
                  <a:txBody>
                    <a:bodyPr/>
                    <a:lstStyle/>
                    <a:p>
                      <a:r>
                        <a:rPr sz="900">
                          <a:solidFill>
                            <a:srgbClr val="2D3748"/>
                          </a:solidFill>
                        </a:rPr>
                        <a:t>100%</a:t>
                      </a:r>
                    </a:p>
                  </a:txBody>
                  <a:tcPr>
                    <a:solidFill>
                      <a:srgbClr val="F2F7FC"/>
                    </a:solidFill>
                  </a:tcPr>
                </a:tc>
                <a:tc>
                  <a:txBody>
                    <a:bodyPr/>
                    <a:lstStyle/>
                    <a:p>
                      <a:r>
                        <a:rPr sz="900">
                          <a:solidFill>
                            <a:srgbClr val="2D3748"/>
                          </a:solidFill>
                        </a:rPr>
                        <a:t>100%</a:t>
                      </a:r>
                    </a:p>
                  </a:txBody>
                  <a:tcPr>
                    <a:solidFill>
                      <a:srgbClr val="F2F7FC"/>
                    </a:solidFill>
                  </a:tcPr>
                </a:tc>
                <a:tc>
                  <a:txBody>
                    <a:bodyPr/>
                    <a:lstStyle/>
                    <a:p>
                      <a:r>
                        <a:rPr sz="900">
                          <a:solidFill>
                            <a:srgbClr val="2D3748"/>
                          </a:solidFill>
                        </a:rPr>
                        <a:t>1.000</a:t>
                      </a:r>
                    </a:p>
                  </a:txBody>
                  <a:tcPr>
                    <a:solidFill>
                      <a:srgbClr val="F2F7FC"/>
                    </a:solidFill>
                  </a:tcPr>
                </a:tc>
                <a:extLst>
                  <a:ext uri="{0D108BD9-81ED-4DB2-BD59-A6C34878D82A}">
                    <a16:rowId xmlns:a16="http://schemas.microsoft.com/office/drawing/2014/main" val="10001"/>
                  </a:ext>
                </a:extLst>
              </a:tr>
              <a:tr h="457200">
                <a:tc>
                  <a:txBody>
                    <a:bodyPr/>
                    <a:lstStyle/>
                    <a:p>
                      <a:r>
                        <a:rPr sz="900">
                          <a:solidFill>
                            <a:srgbClr val="2D3748"/>
                          </a:solidFill>
                        </a:rPr>
                        <a:t>Random Forest</a:t>
                      </a:r>
                    </a:p>
                  </a:txBody>
                  <a:tcPr>
                    <a:solidFill>
                      <a:srgbClr val="FFFFFF"/>
                    </a:solidFill>
                  </a:tcPr>
                </a:tc>
                <a:tc>
                  <a:txBody>
                    <a:bodyPr/>
                    <a:lstStyle/>
                    <a:p>
                      <a:r>
                        <a:rPr sz="900">
                          <a:solidFill>
                            <a:srgbClr val="2D3748"/>
                          </a:solidFill>
                        </a:rPr>
                        <a:t>100%</a:t>
                      </a:r>
                    </a:p>
                  </a:txBody>
                  <a:tcPr>
                    <a:solidFill>
                      <a:srgbClr val="FFFFFF"/>
                    </a:solidFill>
                  </a:tcPr>
                </a:tc>
                <a:tc>
                  <a:txBody>
                    <a:bodyPr/>
                    <a:lstStyle/>
                    <a:p>
                      <a:r>
                        <a:rPr sz="900">
                          <a:solidFill>
                            <a:srgbClr val="2D3748"/>
                          </a:solidFill>
                        </a:rPr>
                        <a:t>100%</a:t>
                      </a:r>
                    </a:p>
                  </a:txBody>
                  <a:tcPr>
                    <a:solidFill>
                      <a:srgbClr val="FFFFFF"/>
                    </a:solidFill>
                  </a:tcPr>
                </a:tc>
                <a:tc>
                  <a:txBody>
                    <a:bodyPr/>
                    <a:lstStyle/>
                    <a:p>
                      <a:r>
                        <a:rPr sz="900">
                          <a:solidFill>
                            <a:srgbClr val="2D3748"/>
                          </a:solidFill>
                        </a:rPr>
                        <a:t>100%</a:t>
                      </a:r>
                    </a:p>
                  </a:txBody>
                  <a:tcPr>
                    <a:solidFill>
                      <a:srgbClr val="FFFFFF"/>
                    </a:solidFill>
                  </a:tcPr>
                </a:tc>
                <a:tc>
                  <a:txBody>
                    <a:bodyPr/>
                    <a:lstStyle/>
                    <a:p>
                      <a:r>
                        <a:rPr sz="900">
                          <a:solidFill>
                            <a:srgbClr val="2D3748"/>
                          </a:solidFill>
                        </a:rPr>
                        <a:t>100%</a:t>
                      </a:r>
                    </a:p>
                  </a:txBody>
                  <a:tcPr>
                    <a:solidFill>
                      <a:srgbClr val="FFFFFF"/>
                    </a:solidFill>
                  </a:tcPr>
                </a:tc>
                <a:tc>
                  <a:txBody>
                    <a:bodyPr/>
                    <a:lstStyle/>
                    <a:p>
                      <a:r>
                        <a:rPr sz="900">
                          <a:solidFill>
                            <a:srgbClr val="2D3748"/>
                          </a:solidFill>
                        </a:rPr>
                        <a:t>1.000</a:t>
                      </a:r>
                    </a:p>
                  </a:txBody>
                  <a:tcPr>
                    <a:solidFill>
                      <a:srgbClr val="FFFFFF"/>
                    </a:solidFill>
                  </a:tcPr>
                </a:tc>
                <a:extLst>
                  <a:ext uri="{0D108BD9-81ED-4DB2-BD59-A6C34878D82A}">
                    <a16:rowId xmlns:a16="http://schemas.microsoft.com/office/drawing/2014/main" val="10002"/>
                  </a:ext>
                </a:extLst>
              </a:tr>
              <a:tr h="457200">
                <a:tc>
                  <a:txBody>
                    <a:bodyPr/>
                    <a:lstStyle/>
                    <a:p>
                      <a:r>
                        <a:rPr sz="900">
                          <a:solidFill>
                            <a:srgbClr val="2D3748"/>
                          </a:solidFill>
                        </a:rPr>
                        <a:t>Isolation Forest</a:t>
                      </a:r>
                    </a:p>
                  </a:txBody>
                  <a:tcPr>
                    <a:solidFill>
                      <a:srgbClr val="F2F7FC"/>
                    </a:solidFill>
                  </a:tcPr>
                </a:tc>
                <a:tc>
                  <a:txBody>
                    <a:bodyPr/>
                    <a:lstStyle/>
                    <a:p>
                      <a:r>
                        <a:rPr sz="900">
                          <a:solidFill>
                            <a:srgbClr val="2D3748"/>
                          </a:solidFill>
                        </a:rPr>
                        <a:t>92%</a:t>
                      </a:r>
                    </a:p>
                  </a:txBody>
                  <a:tcPr>
                    <a:solidFill>
                      <a:srgbClr val="F2F7FC"/>
                    </a:solidFill>
                  </a:tcPr>
                </a:tc>
                <a:tc>
                  <a:txBody>
                    <a:bodyPr/>
                    <a:lstStyle/>
                    <a:p>
                      <a:r>
                        <a:rPr sz="900">
                          <a:solidFill>
                            <a:srgbClr val="2D3748"/>
                          </a:solidFill>
                        </a:rPr>
                        <a:t>100%</a:t>
                      </a:r>
                    </a:p>
                  </a:txBody>
                  <a:tcPr>
                    <a:solidFill>
                      <a:srgbClr val="F2F7FC"/>
                    </a:solidFill>
                  </a:tcPr>
                </a:tc>
                <a:tc>
                  <a:txBody>
                    <a:bodyPr/>
                    <a:lstStyle/>
                    <a:p>
                      <a:r>
                        <a:rPr sz="900">
                          <a:solidFill>
                            <a:srgbClr val="2D3748"/>
                          </a:solidFill>
                        </a:rPr>
                        <a:t>60%</a:t>
                      </a:r>
                    </a:p>
                  </a:txBody>
                  <a:tcPr>
                    <a:solidFill>
                      <a:srgbClr val="F2F7FC"/>
                    </a:solidFill>
                  </a:tcPr>
                </a:tc>
                <a:tc>
                  <a:txBody>
                    <a:bodyPr/>
                    <a:lstStyle/>
                    <a:p>
                      <a:r>
                        <a:rPr sz="900">
                          <a:solidFill>
                            <a:srgbClr val="2D3748"/>
                          </a:solidFill>
                        </a:rPr>
                        <a:t>75%</a:t>
                      </a:r>
                    </a:p>
                  </a:txBody>
                  <a:tcPr>
                    <a:solidFill>
                      <a:srgbClr val="F2F7FC"/>
                    </a:solidFill>
                  </a:tcPr>
                </a:tc>
                <a:tc>
                  <a:txBody>
                    <a:bodyPr/>
                    <a:lstStyle/>
                    <a:p>
                      <a:r>
                        <a:rPr sz="900">
                          <a:solidFill>
                            <a:srgbClr val="2D3748"/>
                          </a:solidFill>
                        </a:rPr>
                        <a:t>0.997*</a:t>
                      </a:r>
                    </a:p>
                  </a:txBody>
                  <a:tcPr>
                    <a:solidFill>
                      <a:srgbClr val="F2F7FC"/>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62355" y="3541575"/>
            <a:ext cx="3246120" cy="12801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3520440"/>
            <a:ext cx="73152" cy="1280160"/>
          </a:xfrm>
          <a:prstGeom prst="rect">
            <a:avLst/>
          </a:prstGeom>
          <a:solidFill>
            <a:srgbClr val="2382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630168"/>
            <a:ext cx="2926079" cy="320040"/>
          </a:xfrm>
          <a:prstGeom prst="rect">
            <a:avLst/>
          </a:prstGeom>
          <a:noFill/>
        </p:spPr>
        <p:txBody>
          <a:bodyPr wrap="square">
            <a:spAutoFit/>
          </a:bodyPr>
          <a:lstStyle/>
          <a:p>
            <a:pPr>
              <a:spcAft>
                <a:spcPts val="500"/>
              </a:spcAft>
              <a:defRPr sz="1500" b="1">
                <a:solidFill>
                  <a:srgbClr val="163053"/>
                </a:solidFill>
                <a:latin typeface="Aptos"/>
              </a:defRPr>
            </a:pPr>
            <a:r>
              <a:t>Elastic Net confusion matrix</a:t>
            </a:r>
          </a:p>
        </p:txBody>
      </p:sp>
      <p:sp>
        <p:nvSpPr>
          <p:cNvPr id="9" name="TextBox 8"/>
          <p:cNvSpPr txBox="1"/>
          <p:nvPr/>
        </p:nvSpPr>
        <p:spPr>
          <a:xfrm>
            <a:off x="731520" y="3995928"/>
            <a:ext cx="2926079" cy="731519"/>
          </a:xfrm>
          <a:prstGeom prst="rect">
            <a:avLst/>
          </a:prstGeom>
          <a:noFill/>
        </p:spPr>
        <p:txBody>
          <a:bodyPr wrap="square">
            <a:spAutoFit/>
          </a:bodyPr>
          <a:lstStyle/>
          <a:p>
            <a:pPr>
              <a:spcAft>
                <a:spcPts val="500"/>
              </a:spcAft>
              <a:defRPr sz="1200" b="0">
                <a:solidFill>
                  <a:srgbClr val="2D3748"/>
                </a:solidFill>
                <a:latin typeface="Aptos"/>
              </a:defRPr>
            </a:pPr>
            <a:r>
              <a:t>TN 240  |  FP 0</a:t>
            </a:r>
          </a:p>
          <a:p>
            <a:pPr>
              <a:spcAft>
                <a:spcPts val="500"/>
              </a:spcAft>
              <a:defRPr sz="1200" b="0">
                <a:solidFill>
                  <a:srgbClr val="2D3748"/>
                </a:solidFill>
                <a:latin typeface="Aptos"/>
              </a:defRPr>
            </a:pPr>
            <a:r>
              <a:t>FN 0    |  TP 60</a:t>
            </a:r>
          </a:p>
        </p:txBody>
      </p:sp>
      <p:sp>
        <p:nvSpPr>
          <p:cNvPr id="10" name="Rounded Rectangle 9"/>
          <p:cNvSpPr/>
          <p:nvPr/>
        </p:nvSpPr>
        <p:spPr>
          <a:xfrm>
            <a:off x="3977639" y="3520440"/>
            <a:ext cx="3383280" cy="12801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977639" y="3520440"/>
            <a:ext cx="73152" cy="1280160"/>
          </a:xfrm>
          <a:prstGeom prst="rect">
            <a:avLst/>
          </a:prstGeom>
          <a:solidFill>
            <a:srgbClr val="27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0520" y="3630168"/>
            <a:ext cx="3063240" cy="320040"/>
          </a:xfrm>
          <a:prstGeom prst="rect">
            <a:avLst/>
          </a:prstGeom>
          <a:noFill/>
        </p:spPr>
        <p:txBody>
          <a:bodyPr wrap="square">
            <a:spAutoFit/>
          </a:bodyPr>
          <a:lstStyle/>
          <a:p>
            <a:pPr>
              <a:spcAft>
                <a:spcPts val="500"/>
              </a:spcAft>
              <a:defRPr sz="1500" b="1">
                <a:solidFill>
                  <a:srgbClr val="163053"/>
                </a:solidFill>
                <a:latin typeface="Aptos"/>
              </a:defRPr>
            </a:pPr>
            <a:r>
              <a:t>Feature selection</a:t>
            </a:r>
          </a:p>
        </p:txBody>
      </p:sp>
      <p:sp>
        <p:nvSpPr>
          <p:cNvPr id="13" name="TextBox 12"/>
          <p:cNvSpPr txBox="1"/>
          <p:nvPr/>
        </p:nvSpPr>
        <p:spPr>
          <a:xfrm>
            <a:off x="4160520" y="3995928"/>
            <a:ext cx="3063240" cy="731519"/>
          </a:xfrm>
          <a:prstGeom prst="rect">
            <a:avLst/>
          </a:prstGeom>
          <a:noFill/>
        </p:spPr>
        <p:txBody>
          <a:bodyPr wrap="square">
            <a:spAutoFit/>
          </a:bodyPr>
          <a:lstStyle/>
          <a:p>
            <a:pPr>
              <a:spcAft>
                <a:spcPts val="500"/>
              </a:spcAft>
              <a:defRPr sz="1200" b="0">
                <a:solidFill>
                  <a:srgbClr val="2D3748"/>
                </a:solidFill>
                <a:latin typeface="Aptos"/>
              </a:defRPr>
            </a:pPr>
            <a:r>
              <a:t>L1 regularization set 23 of 33 encoded coefficients to zero. Strong signals included file access, unique files, sensitive-file access, HTTP activity and access frequency.</a:t>
            </a:r>
          </a:p>
        </p:txBody>
      </p:sp>
      <p:pic>
        <p:nvPicPr>
          <p:cNvPr id="14" name="Picture 13" descr="confusion_matrix.png"/>
          <p:cNvPicPr>
            <a:picLocks noChangeAspect="1"/>
          </p:cNvPicPr>
          <p:nvPr/>
        </p:nvPicPr>
        <p:blipFill>
          <a:blip r:embed="rId2"/>
          <a:stretch>
            <a:fillRect/>
          </a:stretch>
        </p:blipFill>
        <p:spPr>
          <a:xfrm>
            <a:off x="7635240" y="1325880"/>
            <a:ext cx="1920240" cy="1874519"/>
          </a:xfrm>
          <a:prstGeom prst="rect">
            <a:avLst/>
          </a:prstGeom>
        </p:spPr>
      </p:pic>
      <p:pic>
        <p:nvPicPr>
          <p:cNvPr id="15" name="Picture 14" descr="roc_curve.png"/>
          <p:cNvPicPr>
            <a:picLocks noChangeAspect="1"/>
          </p:cNvPicPr>
          <p:nvPr/>
        </p:nvPicPr>
        <p:blipFill>
          <a:blip r:embed="rId3"/>
          <a:stretch>
            <a:fillRect/>
          </a:stretch>
        </p:blipFill>
        <p:spPr>
          <a:xfrm>
            <a:off x="9646920" y="1325880"/>
            <a:ext cx="1965960" cy="1874519"/>
          </a:xfrm>
          <a:prstGeom prst="rect">
            <a:avLst/>
          </a:prstGeom>
        </p:spPr>
      </p:pic>
      <p:sp>
        <p:nvSpPr>
          <p:cNvPr id="16" name="TextBox 15"/>
          <p:cNvSpPr txBox="1"/>
          <p:nvPr/>
        </p:nvSpPr>
        <p:spPr>
          <a:xfrm>
            <a:off x="7635240" y="3310128"/>
            <a:ext cx="3977639" cy="411480"/>
          </a:xfrm>
          <a:prstGeom prst="rect">
            <a:avLst/>
          </a:prstGeom>
          <a:noFill/>
        </p:spPr>
        <p:txBody>
          <a:bodyPr wrap="square">
            <a:spAutoFit/>
          </a:bodyPr>
          <a:lstStyle/>
          <a:p>
            <a:pPr>
              <a:spcAft>
                <a:spcPts val="500"/>
              </a:spcAft>
              <a:defRPr sz="1100" b="1">
                <a:solidFill>
                  <a:srgbClr val="163053"/>
                </a:solidFill>
                <a:latin typeface="Aptos"/>
              </a:defRPr>
            </a:pPr>
            <a:r>
              <a:t>Confusion matrix and ROC curve</a:t>
            </a:r>
          </a:p>
        </p:txBody>
      </p:sp>
      <p:sp>
        <p:nvSpPr>
          <p:cNvPr id="17" name="TextBox 16"/>
          <p:cNvSpPr txBox="1"/>
          <p:nvPr/>
        </p:nvSpPr>
        <p:spPr>
          <a:xfrm>
            <a:off x="640080" y="5074920"/>
            <a:ext cx="10972800" cy="868680"/>
          </a:xfrm>
          <a:prstGeom prst="rect">
            <a:avLst/>
          </a:prstGeom>
          <a:noFill/>
        </p:spPr>
        <p:txBody>
          <a:bodyPr wrap="square">
            <a:spAutoFit/>
          </a:bodyPr>
          <a:lstStyle/>
          <a:p>
            <a:pPr>
              <a:spcAft>
                <a:spcPts val="500"/>
              </a:spcAft>
              <a:defRPr sz="1300" b="1">
                <a:solidFill>
                  <a:srgbClr val="DD7641"/>
                </a:solidFill>
                <a:latin typeface="Aptos"/>
              </a:defRPr>
            </a:pPr>
            <a:r>
              <a:t>Important limitation: the dataset source is unknown and appears synthetic. Perfect supervised scores indicate easy separation in this dataset—not proven performance on real company logs. Isolation Forest is unsupervised and missed 24 of 60 threats.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a:xfrm>
          <a:off x="0" y="0"/>
          <a:ext cx="0" cy="0"/>
          <a:chOff x="0" y="0"/>
          <a:chExt cx="0" cy="0"/>
        </a:xfrm>
      </p:grpSpPr>
      <p:sp>
        <p:nvSpPr>
          <p:cNvPr id="2" name="TextBox 1"/>
          <p:cNvSpPr txBox="1"/>
          <p:nvPr/>
        </p:nvSpPr>
        <p:spPr>
          <a:xfrm>
            <a:off x="2103119" y="269748"/>
            <a:ext cx="11155680" cy="502920"/>
          </a:xfrm>
          <a:prstGeom prst="rect">
            <a:avLst/>
          </a:prstGeom>
          <a:noFill/>
        </p:spPr>
        <p:txBody>
          <a:bodyPr wrap="none">
            <a:spAutoFit/>
          </a:bodyPr>
          <a:lstStyle/>
          <a:p>
            <a:pPr>
              <a:defRPr sz="2800" b="1">
                <a:solidFill>
                  <a:srgbClr val="163053"/>
                </a:solidFill>
                <a:latin typeface="Aptos Display"/>
              </a:defRPr>
            </a:pPr>
            <a:r>
              <a:rPr dirty="0"/>
              <a:t>System Implementation &amp; Monitoring</a:t>
            </a:r>
          </a:p>
        </p:txBody>
      </p:sp>
      <p:sp>
        <p:nvSpPr>
          <p:cNvPr id="3" name="Rectangle 2"/>
          <p:cNvSpPr/>
          <p:nvPr/>
        </p:nvSpPr>
        <p:spPr>
          <a:xfrm>
            <a:off x="502920" y="804672"/>
            <a:ext cx="11155680" cy="41148"/>
          </a:xfrm>
          <a:prstGeom prst="rect">
            <a:avLst/>
          </a:prstGeom>
          <a:solidFill>
            <a:srgbClr val="27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96112"/>
            <a:ext cx="10972800" cy="320040"/>
          </a:xfrm>
          <a:prstGeom prst="rect">
            <a:avLst/>
          </a:prstGeom>
          <a:noFill/>
        </p:spPr>
        <p:txBody>
          <a:bodyPr wrap="none">
            <a:spAutoFit/>
          </a:bodyPr>
          <a:lstStyle/>
          <a:p>
            <a:pPr>
              <a:defRPr sz="1200">
                <a:solidFill>
                  <a:srgbClr val="2D3748"/>
                </a:solidFill>
              </a:defRPr>
            </a:pPr>
            <a:r>
              <a:t>Implemented locally; public cloud deployment is planned, not completed.</a:t>
            </a:r>
          </a:p>
        </p:txBody>
      </p:sp>
      <p:sp>
        <p:nvSpPr>
          <p:cNvPr id="5" name="Rounded Rectangle 4"/>
          <p:cNvSpPr/>
          <p:nvPr/>
        </p:nvSpPr>
        <p:spPr>
          <a:xfrm>
            <a:off x="502920" y="1600200"/>
            <a:ext cx="1965960" cy="15087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600200"/>
            <a:ext cx="73152" cy="1508760"/>
          </a:xfrm>
          <a:prstGeom prst="rect">
            <a:avLst/>
          </a:prstGeom>
          <a:solidFill>
            <a:srgbClr val="27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09928"/>
            <a:ext cx="1645919" cy="320040"/>
          </a:xfrm>
          <a:prstGeom prst="rect">
            <a:avLst/>
          </a:prstGeom>
          <a:noFill/>
        </p:spPr>
        <p:txBody>
          <a:bodyPr wrap="square">
            <a:spAutoFit/>
          </a:bodyPr>
          <a:lstStyle/>
          <a:p>
            <a:pPr>
              <a:spcAft>
                <a:spcPts val="500"/>
              </a:spcAft>
              <a:defRPr sz="1500" b="1">
                <a:solidFill>
                  <a:srgbClr val="163053"/>
                </a:solidFill>
                <a:latin typeface="Aptos"/>
              </a:defRPr>
            </a:pPr>
            <a:r>
              <a:t>1. User Interface</a:t>
            </a:r>
          </a:p>
        </p:txBody>
      </p:sp>
      <p:sp>
        <p:nvSpPr>
          <p:cNvPr id="8" name="TextBox 7"/>
          <p:cNvSpPr txBox="1"/>
          <p:nvPr/>
        </p:nvSpPr>
        <p:spPr>
          <a:xfrm>
            <a:off x="685800" y="2075688"/>
            <a:ext cx="1645919" cy="960119"/>
          </a:xfrm>
          <a:prstGeom prst="rect">
            <a:avLst/>
          </a:prstGeom>
          <a:noFill/>
        </p:spPr>
        <p:txBody>
          <a:bodyPr wrap="square">
            <a:spAutoFit/>
          </a:bodyPr>
          <a:lstStyle/>
          <a:p>
            <a:pPr>
              <a:spcAft>
                <a:spcPts val="500"/>
              </a:spcAft>
              <a:defRPr sz="1200" b="0">
                <a:solidFill>
                  <a:srgbClr val="2D3748"/>
                </a:solidFill>
                <a:latin typeface="Aptos"/>
              </a:defRPr>
            </a:pPr>
            <a:r>
              <a:t>Streamlit form</a:t>
            </a:r>
          </a:p>
          <a:p>
            <a:pPr>
              <a:spcAft>
                <a:spcPts val="500"/>
              </a:spcAft>
              <a:defRPr sz="1200" b="0">
                <a:solidFill>
                  <a:srgbClr val="2D3748"/>
                </a:solidFill>
                <a:latin typeface="Aptos"/>
              </a:defRPr>
            </a:pPr>
            <a:r>
              <a:t>Local model or API mode</a:t>
            </a:r>
          </a:p>
        </p:txBody>
      </p:sp>
      <p:sp>
        <p:nvSpPr>
          <p:cNvPr id="9" name="Chevron 8"/>
          <p:cNvSpPr/>
          <p:nvPr/>
        </p:nvSpPr>
        <p:spPr>
          <a:xfrm>
            <a:off x="2496312" y="2121408"/>
            <a:ext cx="256032" cy="384048"/>
          </a:xfrm>
          <a:prstGeom prst="chevron">
            <a:avLst/>
          </a:prstGeom>
          <a:solidFill>
            <a:srgbClr val="91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88920" y="1600200"/>
            <a:ext cx="1965960" cy="15087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88920" y="1600200"/>
            <a:ext cx="73152" cy="1508760"/>
          </a:xfrm>
          <a:prstGeom prst="rect">
            <a:avLst/>
          </a:prstGeom>
          <a:solidFill>
            <a:srgbClr val="2382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1709928"/>
            <a:ext cx="1645919" cy="320040"/>
          </a:xfrm>
          <a:prstGeom prst="rect">
            <a:avLst/>
          </a:prstGeom>
          <a:noFill/>
        </p:spPr>
        <p:txBody>
          <a:bodyPr wrap="square">
            <a:spAutoFit/>
          </a:bodyPr>
          <a:lstStyle/>
          <a:p>
            <a:pPr>
              <a:spcAft>
                <a:spcPts val="500"/>
              </a:spcAft>
              <a:defRPr sz="1500" b="1">
                <a:solidFill>
                  <a:srgbClr val="163053"/>
                </a:solidFill>
                <a:latin typeface="Aptos"/>
              </a:defRPr>
            </a:pPr>
            <a:r>
              <a:t>2. API Layer</a:t>
            </a:r>
          </a:p>
        </p:txBody>
      </p:sp>
      <p:sp>
        <p:nvSpPr>
          <p:cNvPr id="13" name="TextBox 12"/>
          <p:cNvSpPr txBox="1"/>
          <p:nvPr/>
        </p:nvSpPr>
        <p:spPr>
          <a:xfrm>
            <a:off x="2971800" y="2075688"/>
            <a:ext cx="1645919" cy="960119"/>
          </a:xfrm>
          <a:prstGeom prst="rect">
            <a:avLst/>
          </a:prstGeom>
          <a:noFill/>
        </p:spPr>
        <p:txBody>
          <a:bodyPr wrap="square">
            <a:spAutoFit/>
          </a:bodyPr>
          <a:lstStyle/>
          <a:p>
            <a:pPr>
              <a:spcAft>
                <a:spcPts val="500"/>
              </a:spcAft>
              <a:defRPr sz="1200" b="0">
                <a:solidFill>
                  <a:srgbClr val="2D3748"/>
                </a:solidFill>
                <a:latin typeface="Aptos"/>
              </a:defRPr>
            </a:pPr>
            <a:r>
              <a:t>FastAPI + Pydantic</a:t>
            </a:r>
          </a:p>
          <a:p>
            <a:pPr>
              <a:spcAft>
                <a:spcPts val="500"/>
              </a:spcAft>
              <a:defRPr sz="1200" b="0">
                <a:solidFill>
                  <a:srgbClr val="2D3748"/>
                </a:solidFill>
                <a:latin typeface="Aptos"/>
              </a:defRPr>
            </a:pPr>
            <a:r>
              <a:t>POST /predict, /health</a:t>
            </a:r>
          </a:p>
        </p:txBody>
      </p:sp>
      <p:sp>
        <p:nvSpPr>
          <p:cNvPr id="14" name="Chevron 13"/>
          <p:cNvSpPr/>
          <p:nvPr/>
        </p:nvSpPr>
        <p:spPr>
          <a:xfrm>
            <a:off x="4782312" y="2121408"/>
            <a:ext cx="256032" cy="384048"/>
          </a:xfrm>
          <a:prstGeom prst="chevron">
            <a:avLst/>
          </a:prstGeom>
          <a:solidFill>
            <a:srgbClr val="91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74920" y="1600200"/>
            <a:ext cx="1965960" cy="15087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74920" y="1600200"/>
            <a:ext cx="73152" cy="1508760"/>
          </a:xfrm>
          <a:prstGeom prst="rect">
            <a:avLst/>
          </a:prstGeom>
          <a:solidFill>
            <a:srgbClr val="27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57800" y="1709928"/>
            <a:ext cx="1645919" cy="320040"/>
          </a:xfrm>
          <a:prstGeom prst="rect">
            <a:avLst/>
          </a:prstGeom>
          <a:noFill/>
        </p:spPr>
        <p:txBody>
          <a:bodyPr wrap="square">
            <a:spAutoFit/>
          </a:bodyPr>
          <a:lstStyle/>
          <a:p>
            <a:pPr>
              <a:spcAft>
                <a:spcPts val="500"/>
              </a:spcAft>
              <a:defRPr sz="1500" b="1">
                <a:solidFill>
                  <a:srgbClr val="163053"/>
                </a:solidFill>
                <a:latin typeface="Aptos"/>
              </a:defRPr>
            </a:pPr>
            <a:r>
              <a:t>3. Prediction</a:t>
            </a:r>
          </a:p>
        </p:txBody>
      </p:sp>
      <p:sp>
        <p:nvSpPr>
          <p:cNvPr id="18" name="TextBox 17"/>
          <p:cNvSpPr txBox="1"/>
          <p:nvPr/>
        </p:nvSpPr>
        <p:spPr>
          <a:xfrm>
            <a:off x="5257800" y="2075688"/>
            <a:ext cx="1645919" cy="960119"/>
          </a:xfrm>
          <a:prstGeom prst="rect">
            <a:avLst/>
          </a:prstGeom>
          <a:noFill/>
        </p:spPr>
        <p:txBody>
          <a:bodyPr wrap="square">
            <a:spAutoFit/>
          </a:bodyPr>
          <a:lstStyle/>
          <a:p>
            <a:pPr>
              <a:spcAft>
                <a:spcPts val="500"/>
              </a:spcAft>
              <a:defRPr sz="1200" b="0">
                <a:solidFill>
                  <a:srgbClr val="2D3748"/>
                </a:solidFill>
                <a:latin typeface="Aptos"/>
              </a:defRPr>
            </a:pPr>
            <a:r>
              <a:t>Saved Elastic Net pipeline</a:t>
            </a:r>
          </a:p>
          <a:p>
            <a:pPr>
              <a:spcAft>
                <a:spcPts val="500"/>
              </a:spcAft>
              <a:defRPr sz="1200" b="0">
                <a:solidFill>
                  <a:srgbClr val="2D3748"/>
                </a:solidFill>
                <a:latin typeface="Aptos"/>
              </a:defRPr>
            </a:pPr>
            <a:r>
              <a:t>Impute • scale • encode</a:t>
            </a:r>
          </a:p>
        </p:txBody>
      </p:sp>
      <p:sp>
        <p:nvSpPr>
          <p:cNvPr id="19" name="Chevron 18"/>
          <p:cNvSpPr/>
          <p:nvPr/>
        </p:nvSpPr>
        <p:spPr>
          <a:xfrm>
            <a:off x="7068312" y="2121408"/>
            <a:ext cx="256032" cy="384048"/>
          </a:xfrm>
          <a:prstGeom prst="chevron">
            <a:avLst/>
          </a:prstGeom>
          <a:solidFill>
            <a:srgbClr val="91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360920" y="1600200"/>
            <a:ext cx="1965960" cy="15087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60920" y="1600200"/>
            <a:ext cx="73152" cy="1508760"/>
          </a:xfrm>
          <a:prstGeom prst="rect">
            <a:avLst/>
          </a:prstGeom>
          <a:solidFill>
            <a:srgbClr val="DD7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43800" y="1709928"/>
            <a:ext cx="1645919" cy="320040"/>
          </a:xfrm>
          <a:prstGeom prst="rect">
            <a:avLst/>
          </a:prstGeom>
          <a:noFill/>
        </p:spPr>
        <p:txBody>
          <a:bodyPr wrap="square">
            <a:spAutoFit/>
          </a:bodyPr>
          <a:lstStyle/>
          <a:p>
            <a:pPr>
              <a:spcAft>
                <a:spcPts val="500"/>
              </a:spcAft>
              <a:defRPr sz="1500" b="1">
                <a:solidFill>
                  <a:srgbClr val="163053"/>
                </a:solidFill>
                <a:latin typeface="Aptos"/>
              </a:defRPr>
            </a:pPr>
            <a:r>
              <a:t>4. Logs</a:t>
            </a:r>
          </a:p>
        </p:txBody>
      </p:sp>
      <p:sp>
        <p:nvSpPr>
          <p:cNvPr id="23" name="TextBox 22"/>
          <p:cNvSpPr txBox="1"/>
          <p:nvPr/>
        </p:nvSpPr>
        <p:spPr>
          <a:xfrm>
            <a:off x="7543800" y="2075688"/>
            <a:ext cx="1645919" cy="960119"/>
          </a:xfrm>
          <a:prstGeom prst="rect">
            <a:avLst/>
          </a:prstGeom>
          <a:noFill/>
        </p:spPr>
        <p:txBody>
          <a:bodyPr wrap="square">
            <a:spAutoFit/>
          </a:bodyPr>
          <a:lstStyle/>
          <a:p>
            <a:pPr>
              <a:spcAft>
                <a:spcPts val="500"/>
              </a:spcAft>
              <a:defRPr sz="1200" b="0">
                <a:solidFill>
                  <a:srgbClr val="2D3748"/>
                </a:solidFill>
                <a:latin typeface="Aptos"/>
              </a:defRPr>
            </a:pPr>
            <a:r>
              <a:t>Prediction + score + UTC time</a:t>
            </a:r>
          </a:p>
          <a:p>
            <a:pPr>
              <a:spcAft>
                <a:spcPts val="500"/>
              </a:spcAft>
              <a:defRPr sz="1200" b="0">
                <a:solidFill>
                  <a:srgbClr val="2D3748"/>
                </a:solidFill>
                <a:latin typeface="Aptos"/>
              </a:defRPr>
            </a:pPr>
            <a:r>
              <a:t>No user IDs logged</a:t>
            </a:r>
          </a:p>
        </p:txBody>
      </p:sp>
      <p:sp>
        <p:nvSpPr>
          <p:cNvPr id="24" name="Chevron 23"/>
          <p:cNvSpPr/>
          <p:nvPr/>
        </p:nvSpPr>
        <p:spPr>
          <a:xfrm>
            <a:off x="9354312" y="2121408"/>
            <a:ext cx="256032" cy="384048"/>
          </a:xfrm>
          <a:prstGeom prst="chevron">
            <a:avLst/>
          </a:prstGeom>
          <a:solidFill>
            <a:srgbClr val="91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646920" y="1600200"/>
            <a:ext cx="1965960" cy="150876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646920" y="1600200"/>
            <a:ext cx="73152" cy="1508760"/>
          </a:xfrm>
          <a:prstGeom prst="rect">
            <a:avLst/>
          </a:prstGeom>
          <a:solidFill>
            <a:srgbClr val="2382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9800" y="1709928"/>
            <a:ext cx="1645919" cy="320040"/>
          </a:xfrm>
          <a:prstGeom prst="rect">
            <a:avLst/>
          </a:prstGeom>
          <a:noFill/>
        </p:spPr>
        <p:txBody>
          <a:bodyPr wrap="square">
            <a:spAutoFit/>
          </a:bodyPr>
          <a:lstStyle/>
          <a:p>
            <a:pPr>
              <a:spcAft>
                <a:spcPts val="500"/>
              </a:spcAft>
              <a:defRPr sz="1500" b="1">
                <a:solidFill>
                  <a:srgbClr val="163053"/>
                </a:solidFill>
                <a:latin typeface="Aptos"/>
              </a:defRPr>
            </a:pPr>
            <a:r>
              <a:t>5. Monitoring</a:t>
            </a:r>
          </a:p>
        </p:txBody>
      </p:sp>
      <p:sp>
        <p:nvSpPr>
          <p:cNvPr id="28" name="TextBox 27"/>
          <p:cNvSpPr txBox="1"/>
          <p:nvPr/>
        </p:nvSpPr>
        <p:spPr>
          <a:xfrm>
            <a:off x="9829800" y="2075688"/>
            <a:ext cx="1645919" cy="960119"/>
          </a:xfrm>
          <a:prstGeom prst="rect">
            <a:avLst/>
          </a:prstGeom>
          <a:noFill/>
        </p:spPr>
        <p:txBody>
          <a:bodyPr wrap="square">
            <a:spAutoFit/>
          </a:bodyPr>
          <a:lstStyle/>
          <a:p>
            <a:pPr>
              <a:spcAft>
                <a:spcPts val="500"/>
              </a:spcAft>
              <a:defRPr sz="1200" b="0">
                <a:solidFill>
                  <a:srgbClr val="2D3748"/>
                </a:solidFill>
                <a:latin typeface="Aptos"/>
              </a:defRPr>
            </a:pPr>
            <a:r>
              <a:t>Threat rate, missing values</a:t>
            </a:r>
          </a:p>
          <a:p>
            <a:pPr>
              <a:spcAft>
                <a:spcPts val="500"/>
              </a:spcAft>
              <a:defRPr sz="1200" b="0">
                <a:solidFill>
                  <a:srgbClr val="2D3748"/>
                </a:solidFill>
                <a:latin typeface="Aptos"/>
              </a:defRPr>
            </a:pPr>
            <a:r>
              <a:t>range checks + KS drift</a:t>
            </a:r>
          </a:p>
        </p:txBody>
      </p:sp>
      <p:sp>
        <p:nvSpPr>
          <p:cNvPr id="29" name="Rounded Rectangle 28"/>
          <p:cNvSpPr/>
          <p:nvPr/>
        </p:nvSpPr>
        <p:spPr>
          <a:xfrm>
            <a:off x="594360" y="3657600"/>
            <a:ext cx="3474720" cy="132588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94360" y="3657600"/>
            <a:ext cx="73152" cy="1325880"/>
          </a:xfrm>
          <a:prstGeom prst="rect">
            <a:avLst/>
          </a:prstGeom>
          <a:solidFill>
            <a:srgbClr val="27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3767328"/>
            <a:ext cx="3154679" cy="320040"/>
          </a:xfrm>
          <a:prstGeom prst="rect">
            <a:avLst/>
          </a:prstGeom>
          <a:noFill/>
        </p:spPr>
        <p:txBody>
          <a:bodyPr wrap="square">
            <a:spAutoFit/>
          </a:bodyPr>
          <a:lstStyle/>
          <a:p>
            <a:pPr>
              <a:spcAft>
                <a:spcPts val="500"/>
              </a:spcAft>
              <a:defRPr sz="1500" b="1">
                <a:solidFill>
                  <a:srgbClr val="163053"/>
                </a:solidFill>
                <a:latin typeface="Aptos"/>
              </a:defRPr>
            </a:pPr>
            <a:r>
              <a:t>Model training</a:t>
            </a:r>
          </a:p>
        </p:txBody>
      </p:sp>
      <p:sp>
        <p:nvSpPr>
          <p:cNvPr id="32" name="TextBox 31"/>
          <p:cNvSpPr txBox="1"/>
          <p:nvPr/>
        </p:nvSpPr>
        <p:spPr>
          <a:xfrm>
            <a:off x="777240" y="4133087"/>
            <a:ext cx="3154679" cy="777240"/>
          </a:xfrm>
          <a:prstGeom prst="rect">
            <a:avLst/>
          </a:prstGeom>
          <a:noFill/>
        </p:spPr>
        <p:txBody>
          <a:bodyPr wrap="square">
            <a:spAutoFit/>
          </a:bodyPr>
          <a:lstStyle/>
          <a:p>
            <a:pPr>
              <a:spcAft>
                <a:spcPts val="500"/>
              </a:spcAft>
              <a:defRPr sz="1200" b="0">
                <a:solidFill>
                  <a:srgbClr val="2D3748"/>
                </a:solidFill>
                <a:latin typeface="Aptos"/>
              </a:defRPr>
            </a:pPr>
            <a:r>
              <a:t>Stratified 80/20 split • 5-fold CV</a:t>
            </a:r>
          </a:p>
          <a:p>
            <a:pPr>
              <a:spcAft>
                <a:spcPts val="500"/>
              </a:spcAft>
              <a:defRPr sz="1200" b="0">
                <a:solidFill>
                  <a:srgbClr val="2D3748"/>
                </a:solidFill>
                <a:latin typeface="Aptos"/>
              </a:defRPr>
            </a:pPr>
            <a:r>
              <a:t>GridSearchCV tunes C and l1_ratio</a:t>
            </a:r>
          </a:p>
          <a:p>
            <a:pPr>
              <a:spcAft>
                <a:spcPts val="500"/>
              </a:spcAft>
              <a:defRPr sz="1200" b="0">
                <a:solidFill>
                  <a:srgbClr val="2D3748"/>
                </a:solidFill>
                <a:latin typeface="Aptos"/>
              </a:defRPr>
            </a:pPr>
            <a:r>
              <a:t>Class weighting handles 20% threat class</a:t>
            </a:r>
          </a:p>
        </p:txBody>
      </p:sp>
      <p:sp>
        <p:nvSpPr>
          <p:cNvPr id="33" name="Rounded Rectangle 32"/>
          <p:cNvSpPr/>
          <p:nvPr/>
        </p:nvSpPr>
        <p:spPr>
          <a:xfrm>
            <a:off x="4343400" y="3657600"/>
            <a:ext cx="3474720" cy="132588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43400" y="3657600"/>
            <a:ext cx="73152" cy="1325880"/>
          </a:xfrm>
          <a:prstGeom prst="rect">
            <a:avLst/>
          </a:prstGeom>
          <a:solidFill>
            <a:srgbClr val="2382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26280" y="3767328"/>
            <a:ext cx="3154679" cy="320040"/>
          </a:xfrm>
          <a:prstGeom prst="rect">
            <a:avLst/>
          </a:prstGeom>
          <a:noFill/>
        </p:spPr>
        <p:txBody>
          <a:bodyPr wrap="square">
            <a:spAutoFit/>
          </a:bodyPr>
          <a:lstStyle/>
          <a:p>
            <a:pPr>
              <a:spcAft>
                <a:spcPts val="500"/>
              </a:spcAft>
              <a:defRPr sz="1500" b="1">
                <a:solidFill>
                  <a:srgbClr val="163053"/>
                </a:solidFill>
                <a:latin typeface="Aptos"/>
              </a:defRPr>
            </a:pPr>
            <a:r>
              <a:t>Comparison models</a:t>
            </a:r>
          </a:p>
        </p:txBody>
      </p:sp>
      <p:sp>
        <p:nvSpPr>
          <p:cNvPr id="36" name="TextBox 35"/>
          <p:cNvSpPr txBox="1"/>
          <p:nvPr/>
        </p:nvSpPr>
        <p:spPr>
          <a:xfrm>
            <a:off x="4526280" y="4133087"/>
            <a:ext cx="3154679" cy="777240"/>
          </a:xfrm>
          <a:prstGeom prst="rect">
            <a:avLst/>
          </a:prstGeom>
          <a:noFill/>
        </p:spPr>
        <p:txBody>
          <a:bodyPr wrap="square">
            <a:spAutoFit/>
          </a:bodyPr>
          <a:lstStyle/>
          <a:p>
            <a:pPr>
              <a:spcAft>
                <a:spcPts val="500"/>
              </a:spcAft>
              <a:defRPr sz="1200" b="0">
                <a:solidFill>
                  <a:srgbClr val="2D3748"/>
                </a:solidFill>
                <a:latin typeface="Aptos"/>
              </a:defRPr>
            </a:pPr>
            <a:r>
              <a:t>Random Forest benchmark</a:t>
            </a:r>
          </a:p>
          <a:p>
            <a:pPr>
              <a:spcAft>
                <a:spcPts val="500"/>
              </a:spcAft>
              <a:defRPr sz="1200" b="0">
                <a:solidFill>
                  <a:srgbClr val="2D3748"/>
                </a:solidFill>
                <a:latin typeface="Aptos"/>
              </a:defRPr>
            </a:pPr>
            <a:r>
              <a:t>Isolation Forest detects anomalies</a:t>
            </a:r>
          </a:p>
          <a:p>
            <a:pPr>
              <a:spcAft>
                <a:spcPts val="500"/>
              </a:spcAft>
              <a:defRPr sz="1200" b="0">
                <a:solidFill>
                  <a:srgbClr val="2D3748"/>
                </a:solidFill>
                <a:latin typeface="Aptos"/>
              </a:defRPr>
            </a:pPr>
            <a:r>
              <a:t>Saved pipelines use Joblib</a:t>
            </a:r>
          </a:p>
        </p:txBody>
      </p:sp>
      <p:sp>
        <p:nvSpPr>
          <p:cNvPr id="37" name="Rounded Rectangle 36"/>
          <p:cNvSpPr/>
          <p:nvPr/>
        </p:nvSpPr>
        <p:spPr>
          <a:xfrm>
            <a:off x="8092440" y="3657600"/>
            <a:ext cx="3474720" cy="1325880"/>
          </a:xfrm>
          <a:prstGeom prst="roundRect">
            <a:avLst/>
          </a:prstGeom>
          <a:solidFill>
            <a:srgbClr val="EBF2FA"/>
          </a:solidFill>
          <a:ln>
            <a:solidFill>
              <a:srgbClr val="D2DE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092440" y="3657600"/>
            <a:ext cx="73152" cy="1325880"/>
          </a:xfrm>
          <a:prstGeom prst="rect">
            <a:avLst/>
          </a:prstGeom>
          <a:solidFill>
            <a:srgbClr val="DD7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19" y="3767328"/>
            <a:ext cx="3154679" cy="320040"/>
          </a:xfrm>
          <a:prstGeom prst="rect">
            <a:avLst/>
          </a:prstGeom>
          <a:noFill/>
        </p:spPr>
        <p:txBody>
          <a:bodyPr wrap="square">
            <a:spAutoFit/>
          </a:bodyPr>
          <a:lstStyle/>
          <a:p>
            <a:pPr>
              <a:spcAft>
                <a:spcPts val="500"/>
              </a:spcAft>
              <a:defRPr sz="1500" b="1">
                <a:solidFill>
                  <a:srgbClr val="163053"/>
                </a:solidFill>
                <a:latin typeface="Aptos"/>
              </a:defRPr>
            </a:pPr>
            <a:r>
              <a:t>Monitoring caveat</a:t>
            </a:r>
          </a:p>
        </p:txBody>
      </p:sp>
      <p:sp>
        <p:nvSpPr>
          <p:cNvPr id="40" name="TextBox 39"/>
          <p:cNvSpPr txBox="1"/>
          <p:nvPr/>
        </p:nvSpPr>
        <p:spPr>
          <a:xfrm>
            <a:off x="8275319" y="4133087"/>
            <a:ext cx="3154679" cy="777240"/>
          </a:xfrm>
          <a:prstGeom prst="rect">
            <a:avLst/>
          </a:prstGeom>
          <a:noFill/>
        </p:spPr>
        <p:txBody>
          <a:bodyPr wrap="square">
            <a:spAutoFit/>
          </a:bodyPr>
          <a:lstStyle/>
          <a:p>
            <a:pPr>
              <a:spcAft>
                <a:spcPts val="500"/>
              </a:spcAft>
              <a:defRPr sz="1200" b="0">
                <a:solidFill>
                  <a:srgbClr val="2D3748"/>
                </a:solidFill>
                <a:latin typeface="Aptos"/>
              </a:defRPr>
            </a:pPr>
            <a:r>
              <a:t>Drift means input distributions changed.</a:t>
            </a:r>
          </a:p>
          <a:p>
            <a:pPr>
              <a:spcAft>
                <a:spcPts val="500"/>
              </a:spcAft>
              <a:defRPr sz="1200" b="0">
                <a:solidFill>
                  <a:srgbClr val="2D3748"/>
                </a:solidFill>
                <a:latin typeface="Aptos"/>
              </a:defRPr>
            </a:pPr>
            <a:r>
              <a:t>Without true labels, performance decline cannot be confirmed.</a:t>
            </a:r>
          </a:p>
        </p:txBody>
      </p:sp>
      <p:sp>
        <p:nvSpPr>
          <p:cNvPr id="41" name="TextBox 40"/>
          <p:cNvSpPr txBox="1"/>
          <p:nvPr/>
        </p:nvSpPr>
        <p:spPr>
          <a:xfrm>
            <a:off x="640080" y="5349240"/>
            <a:ext cx="10972800" cy="502920"/>
          </a:xfrm>
          <a:prstGeom prst="rect">
            <a:avLst/>
          </a:prstGeom>
          <a:noFill/>
        </p:spPr>
        <p:txBody>
          <a:bodyPr wrap="square">
            <a:spAutoFit/>
          </a:bodyPr>
          <a:lstStyle/>
          <a:p>
            <a:pPr>
              <a:spcAft>
                <a:spcPts val="500"/>
              </a:spcAft>
              <a:defRPr sz="1200" b="1">
                <a:solidFill>
                  <a:srgbClr val="163053"/>
                </a:solidFill>
                <a:latin typeface="Aptos"/>
              </a:defRPr>
            </a:pPr>
            <a:r>
              <a:t>Local run: uvicorn app.main:app --reload  |  streamlit run app/streamlit_app.py  |  pytest -v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HWTitle"/>
          <p:cNvSpPr txBox="1"/>
          <p:nvPr/>
        </p:nvSpPr>
        <p:spPr>
          <a:xfrm>
            <a:off x="685800" y="1150000"/>
            <a:ext cx="5200000" cy="400000"/>
          </a:xfrm>
          <a:prstGeom prst="rect">
            <a:avLst/>
          </a:prstGeom>
          <a:noFill/>
        </p:spPr>
        <p:txBody>
          <a:bodyPr wrap="square" anchor="t"/>
          <a:lstStyle/>
          <a:p>
            <a:pPr>
              <a:spcAft>
                <a:spcPts val="0"/>
              </a:spcAft>
            </a:pPr>
            <a:r>
              <a:rPr lang="en-US" sz="1700" b="1" dirty="0">
                <a:solidFill>
                  <a:srgbClr val="C00000"/>
                </a:solidFill>
              </a:rPr>
              <a:t>Hardware Requirements</a:t>
            </a:r>
          </a:p>
        </p:txBody>
      </p:sp>
      <p:sp>
        <p:nvSpPr>
          <p:cNvPr id="11" name="HWBody"/>
          <p:cNvSpPr txBox="1"/>
          <p:nvPr/>
        </p:nvSpPr>
        <p:spPr>
          <a:xfrm>
            <a:off x="685800" y="1650000"/>
            <a:ext cx="5200000" cy="4200000"/>
          </a:xfrm>
          <a:prstGeom prst="rect">
            <a:avLst/>
          </a:prstGeom>
          <a:noFill/>
        </p:spPr>
        <p:txBody>
          <a:bodyPr wrap="square" anchor="t">
            <a:normAutofit/>
          </a:bodyPr>
          <a:lstStyle/>
          <a:p>
            <a:pPr marL="285750" indent="-285750">
              <a:spcAft>
                <a:spcPts val="1000"/>
              </a:spcAft>
              <a:buFont typeface="Arial"/>
              <a:buChar char="•"/>
            </a:pPr>
            <a:r>
              <a:rPr sz="1700">
                <a:solidFill>
                  <a:srgbClr val="262626"/>
                </a:solidFill>
                <a:latin typeface="Aptos"/>
              </a:rPr>
              <a:t>Processor: Intel i5 / AMD Ryzen 5 or equivalent</a:t>
            </a:r>
          </a:p>
          <a:p>
            <a:r>
              <a:rPr sz="1700">
                <a:solidFill>
                  <a:srgbClr val="262626"/>
                </a:solidFill>
                <a:latin typeface="Aptos"/>
              </a:rPr>
              <a:t>RAM: 8 GB minimum (16 GB recommended)</a:t>
            </a:r>
          </a:p>
          <a:p>
            <a:r>
              <a:rPr sz="1700">
                <a:solidFill>
                  <a:srgbClr val="262626"/>
                </a:solidFill>
                <a:latin typeface="Aptos"/>
              </a:rPr>
              <a:t>Storage: 5 GB free space</a:t>
            </a:r>
          </a:p>
          <a:p>
            <a:r>
              <a:rPr sz="1700">
                <a:solidFill>
                  <a:srgbClr val="262626"/>
                </a:solidFill>
                <a:latin typeface="Aptos"/>
              </a:rPr>
              <a:t>GPU: Not required</a:t>
            </a:r>
          </a:p>
          <a:p>
            <a:r>
              <a:rPr sz="1700">
                <a:solidFill>
                  <a:srgbClr val="262626"/>
                </a:solidFill>
                <a:latin typeface="Aptos"/>
              </a:rPr>
              <a:t>Internet: Needed for package installation / hosted services</a:t>
            </a:r>
          </a:p>
        </p:txBody>
      </p:sp>
      <p:sp>
        <p:nvSpPr>
          <p:cNvPr id="12" name="SWTitle"/>
          <p:cNvSpPr txBox="1"/>
          <p:nvPr/>
        </p:nvSpPr>
        <p:spPr>
          <a:xfrm>
            <a:off x="6350000" y="1150000"/>
            <a:ext cx="5150000" cy="400000"/>
          </a:xfrm>
          <a:prstGeom prst="rect">
            <a:avLst/>
          </a:prstGeom>
          <a:noFill/>
        </p:spPr>
        <p:txBody>
          <a:bodyPr wrap="square" anchor="t"/>
          <a:lstStyle/>
          <a:p>
            <a:pPr>
              <a:spcAft>
                <a:spcPts val="0"/>
              </a:spcAft>
            </a:pPr>
            <a:r>
              <a:rPr lang="en-US" sz="1700" b="1" dirty="0">
                <a:solidFill>
                  <a:srgbClr val="C00000"/>
                </a:solidFill>
              </a:rPr>
              <a:t>Software Requirements</a:t>
            </a:r>
          </a:p>
        </p:txBody>
      </p:sp>
      <p:sp>
        <p:nvSpPr>
          <p:cNvPr id="13" name="SWBody"/>
          <p:cNvSpPr txBox="1"/>
          <p:nvPr/>
        </p:nvSpPr>
        <p:spPr>
          <a:xfrm>
            <a:off x="6350000" y="1650000"/>
            <a:ext cx="5150000" cy="4200000"/>
          </a:xfrm>
          <a:prstGeom prst="rect">
            <a:avLst/>
          </a:prstGeom>
          <a:noFill/>
        </p:spPr>
        <p:txBody>
          <a:bodyPr wrap="square" anchor="t">
            <a:normAutofit/>
          </a:bodyPr>
          <a:lstStyle/>
          <a:p>
            <a:pPr marL="285750" indent="-285750">
              <a:spcAft>
                <a:spcPts val="1000"/>
              </a:spcAft>
              <a:buFont typeface="Arial"/>
              <a:buChar char="•"/>
            </a:pPr>
            <a:r>
              <a:rPr sz="1600">
                <a:solidFill>
                  <a:srgbClr val="262626"/>
                </a:solidFill>
                <a:latin typeface="Aptos"/>
              </a:rPr>
              <a:t>Python 3.10+</a:t>
            </a:r>
          </a:p>
          <a:p>
            <a:r>
              <a:rPr sz="1600">
                <a:solidFill>
                  <a:srgbClr val="262626"/>
                </a:solidFill>
                <a:latin typeface="Aptos"/>
              </a:rPr>
              <a:t>FastAPI + Uvicorn (REST API)</a:t>
            </a:r>
          </a:p>
          <a:p>
            <a:r>
              <a:rPr sz="1600">
                <a:solidFill>
                  <a:srgbClr val="262626"/>
                </a:solidFill>
                <a:latin typeface="Aptos"/>
              </a:rPr>
              <a:t>Streamlit (interactive dashboard)</a:t>
            </a:r>
          </a:p>
          <a:p>
            <a:r>
              <a:rPr sz="1600">
                <a:solidFill>
                  <a:srgbClr val="262626"/>
                </a:solidFill>
                <a:latin typeface="Aptos"/>
              </a:rPr>
              <a:t>scikit-learn, pandas, NumPy, SciPy</a:t>
            </a:r>
          </a:p>
          <a:p>
            <a:r>
              <a:rPr sz="1600">
                <a:solidFill>
                  <a:srgbClr val="262626"/>
                </a:solidFill>
                <a:latin typeface="Aptos"/>
              </a:rPr>
              <a:t>matplotlib, joblib, Pydantic, requests</a:t>
            </a:r>
          </a:p>
          <a:p>
            <a:r>
              <a:rPr sz="1600">
                <a:solidFill>
                  <a:srgbClr val="262626"/>
                </a:solidFill>
                <a:latin typeface="Aptos"/>
              </a:rPr>
              <a:t>pytest + httpx (automated tests)</a:t>
            </a:r>
          </a:p>
          <a:p>
            <a:r>
              <a:rPr sz="1600">
                <a:solidFill>
                  <a:srgbClr val="262626"/>
                </a:solidFill>
                <a:latin typeface="Aptos"/>
              </a:rPr>
              <a:t>OS: Windows, Linux, or macOS</a:t>
            </a:r>
          </a:p>
        </p:txBody>
      </p:sp>
    </p:spTree>
    <p:extLst>
      <p:ext uri="{BB962C8B-B14F-4D97-AF65-F5344CB8AC3E}">
        <p14:creationId xmlns:p14="http://schemas.microsoft.com/office/powerpoint/2010/main" val="229275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ConclusionBody"/>
          <p:cNvSpPr txBox="1"/>
          <p:nvPr/>
        </p:nvSpPr>
        <p:spPr>
          <a:xfrm>
            <a:off x="685800" y="1000000"/>
            <a:ext cx="10820000" cy="5300000"/>
          </a:xfrm>
          <a:prstGeom prst="rect">
            <a:avLst/>
          </a:prstGeom>
          <a:noFill/>
        </p:spPr>
        <p:txBody>
          <a:bodyPr wrap="square" anchor="t">
            <a:normAutofit/>
          </a:bodyPr>
          <a:lstStyle/>
          <a:p>
            <a:pPr marL="285750" indent="-285750">
              <a:spcAft>
                <a:spcPts val="1000"/>
              </a:spcAft>
              <a:buFont typeface="Arial"/>
              <a:buChar char="•"/>
            </a:pPr>
            <a:r>
              <a:rPr sz="1900">
                <a:solidFill>
                  <a:srgbClr val="262626"/>
                </a:solidFill>
                <a:latin typeface="Aptos"/>
              </a:rPr>
              <a:t>The project now implements an end-to-end insider-threat screening workflow using 1,500 records and 23 original dataset columns. Data checks found no missing values or duplicate rows; 20% of records are labelled as threats.</a:t>
            </a:r>
          </a:p>
          <a:p>
            <a:endParaRPr sz="1900">
              <a:solidFill>
                <a:srgbClr val="262626"/>
              </a:solidFill>
              <a:latin typeface="Aptos"/>
            </a:endParaRPr>
          </a:p>
          <a:p>
            <a:r>
              <a:rPr sz="1900">
                <a:solidFill>
                  <a:srgbClr val="262626"/>
                </a:solidFill>
                <a:latin typeface="Aptos"/>
              </a:rPr>
              <a:t>On the held-out 300-record test set, Elastic Net Logistic Regression achieved 100% accuracy, precision, recall, F1-score and ROC-AUC. Random Forest tied on this dataset; Isolation Forest achieved 92% accuracy and 60% recall.</a:t>
            </a:r>
          </a:p>
          <a:p>
            <a:endParaRPr sz="1900">
              <a:solidFill>
                <a:srgbClr val="262626"/>
              </a:solidFill>
              <a:latin typeface="Aptos"/>
            </a:endParaRPr>
          </a:p>
          <a:p>
            <a:r>
              <a:rPr sz="1900">
                <a:solidFill>
                  <a:srgbClr val="262626"/>
                </a:solidFill>
                <a:latin typeface="Aptos"/>
              </a:rPr>
              <a:t>The pipeline includes preprocessing, feature selection, a FastAPI prediction service, a Streamlit interface, request logging and input-drift monitoring. The perfect supervised scores must be treated cautiously because the dataset origin is unknown and appears synthetic; these results do not establish real-world performance.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999" name="BgMask"/>
          <p:cNvSpPr/>
          <p:nvPr/>
        </p:nvSpPr>
        <p:spPr>
          <a:xfrm>
            <a:off x="0" y="960000"/>
            <a:ext cx="3150000" cy="2150000"/>
          </a:xfrm>
          <a:prstGeom prst="rect">
            <a:avLst/>
          </a:prstGeom>
          <a:solidFill>
            <a:srgbClr val="FDFCFA"/>
          </a:solidFill>
          <a:ln>
            <a:noFill/>
          </a:ln>
        </p:spPr>
        <p:txBody>
          <a:bodyPr/>
          <a:lstStyle/>
          <a:p>
            <a:endParaRPr lang="en-US"/>
          </a:p>
        </p:txBody>
      </p:sp>
      <p:sp>
        <p:nvSpPr>
          <p:cNvPr id="10" name="FutureBody"/>
          <p:cNvSpPr txBox="1"/>
          <p:nvPr/>
        </p:nvSpPr>
        <p:spPr>
          <a:xfrm>
            <a:off x="685800" y="1000000"/>
            <a:ext cx="10820000" cy="5300000"/>
          </a:xfrm>
          <a:prstGeom prst="rect">
            <a:avLst/>
          </a:prstGeom>
          <a:noFill/>
        </p:spPr>
        <p:txBody>
          <a:bodyPr wrap="square" anchor="t">
            <a:normAutofit/>
          </a:bodyPr>
          <a:lstStyle/>
          <a:p>
            <a:pPr marL="285750" indent="-285750">
              <a:spcAft>
                <a:spcPts val="1000"/>
              </a:spcAft>
              <a:buFont typeface="Arial"/>
              <a:buChar char="•"/>
            </a:pPr>
            <a:r>
              <a:rPr sz="1800">
                <a:solidFill>
                  <a:srgbClr val="262626"/>
                </a:solidFill>
                <a:latin typeface="Aptos"/>
              </a:rPr>
              <a:t>Validate on real, labelled organizational or benchmark data (for example, CERT) before making security claims.</a:t>
            </a:r>
          </a:p>
          <a:p>
            <a:endParaRPr sz="1800">
              <a:solidFill>
                <a:srgbClr val="262626"/>
              </a:solidFill>
              <a:latin typeface="Aptos"/>
            </a:endParaRPr>
          </a:p>
          <a:p>
            <a:r>
              <a:rPr sz="1800">
                <a:solidFill>
                  <a:srgbClr val="262626"/>
                </a:solidFill>
                <a:latin typeface="Aptos"/>
              </a:rPr>
              <a:t>Tune thresholds for high threat recall and calibrate predicted probabilities.</a:t>
            </a:r>
          </a:p>
          <a:p>
            <a:endParaRPr sz="1800">
              <a:solidFill>
                <a:srgbClr val="262626"/>
              </a:solidFill>
              <a:latin typeface="Aptos"/>
            </a:endParaRPr>
          </a:p>
          <a:p>
            <a:r>
              <a:rPr sz="1800">
                <a:solidFill>
                  <a:srgbClr val="262626"/>
                </a:solidFill>
                <a:latin typeface="Aptos"/>
              </a:rPr>
              <a:t>Monitor drift over time and evaluate performance when ground-truth labels become available.</a:t>
            </a:r>
          </a:p>
          <a:p>
            <a:endParaRPr sz="1800">
              <a:solidFill>
                <a:srgbClr val="262626"/>
              </a:solidFill>
              <a:latin typeface="Aptos"/>
            </a:endParaRPr>
          </a:p>
          <a:p>
            <a:r>
              <a:rPr sz="1800">
                <a:solidFill>
                  <a:srgbClr val="262626"/>
                </a:solidFill>
                <a:latin typeface="Aptos"/>
              </a:rPr>
              <a:t>Improve temporal/session-level features and test against additional baselines such as XGBoost and SVM.</a:t>
            </a:r>
          </a:p>
          <a:p>
            <a:endParaRPr sz="1800">
              <a:solidFill>
                <a:srgbClr val="262626"/>
              </a:solidFill>
              <a:latin typeface="Aptos"/>
            </a:endParaRPr>
          </a:p>
          <a:p>
            <a:r>
              <a:rPr sz="1800">
                <a:solidFill>
                  <a:srgbClr val="262626"/>
                </a:solidFill>
                <a:latin typeface="Aptos"/>
              </a:rPr>
              <a:t>Deploy the API and dashboard to a hosted environment; online deployment is not yet completed.</a:t>
            </a:r>
          </a:p>
          <a:p>
            <a:endParaRPr sz="1800">
              <a:solidFill>
                <a:srgbClr val="262626"/>
              </a:solidFill>
              <a:latin typeface="Aptos"/>
            </a:endParaRPr>
          </a:p>
          <a:p>
            <a:r>
              <a:rPr sz="1800">
                <a:solidFill>
                  <a:srgbClr val="262626"/>
                </a:solidFill>
                <a:latin typeface="Aptos"/>
              </a:rPr>
              <a:t>Add explainability reports (e.g., SHAP) and role-based access controls for analyst 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1486</Words>
  <Application>Microsoft Office PowerPoint</Application>
  <PresentationFormat>Widescreen</PresentationFormat>
  <Paragraphs>180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Times New Roman</vt:lpstr>
      <vt:lpstr>Office Theme</vt:lpstr>
      <vt:lpstr>       Machine Learning (25SC2107E)  Insider Threat Detection Using Elastic Net Regularized 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Bhimavarapu Sai Saranya</cp:lastModifiedBy>
  <cp:revision>23</cp:revision>
  <dcterms:created xsi:type="dcterms:W3CDTF">2024-08-29T05:25:00Z</dcterms:created>
  <dcterms:modified xsi:type="dcterms:W3CDTF">2026-10-14T05:19:50Z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